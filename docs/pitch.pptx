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n Bold" charset="1" panose="020B0805020202050204"/>
      <p:regular r:id="rId18"/>
    </p:embeddedFont>
    <p:embeddedFont>
      <p:font typeface="Codec Pro" charset="1" panose="00000500000000000000"/>
      <p:regular r:id="rId19"/>
    </p:embeddedFont>
    <p:embeddedFont>
      <p:font typeface="Codec Pro Bold" charset="1" panose="00000600000000000000"/>
      <p:regular r:id="rId20"/>
    </p:embeddedFont>
    <p:embeddedFont>
      <p:font typeface="29LT Bukra Wide Bold" charset="1" panose="020B0807040000000004"/>
      <p:regular r:id="rId21"/>
    </p:embeddedFont>
    <p:embeddedFont>
      <p:font typeface="Amiri Bold" charset="1" panose="00000500000000000000"/>
      <p:regular r:id="rId22"/>
    </p:embeddedFont>
    <p:embeddedFont>
      <p:font typeface="Nazanin Bold" charset="1" panose="01000400000000000000"/>
      <p:regular r:id="rId23"/>
    </p:embeddedFont>
    <p:embeddedFont>
      <p:font typeface="Canva Sans" charset="1" panose="020B0503030501040103"/>
      <p:regular r:id="rId24"/>
    </p:embeddedFont>
    <p:embeddedFont>
      <p:font typeface="Canva Sans Bold" charset="1" panose="020B0803030501040103"/>
      <p:regular r:id="rId25"/>
    </p:embeddedFont>
    <p:embeddedFont>
      <p:font typeface="Nazanin Light" charset="1" panose="01000400000000000000"/>
      <p:regular r:id="rId26"/>
    </p:embeddedFont>
    <p:embeddedFont>
      <p:font typeface="HandMade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VAHXZWKtwcw.mp4" Type="http://schemas.openxmlformats.org/officeDocument/2006/relationships/video"/><Relationship Id="rId4" Target="../media/VAHXZWKtwcw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16984">
            <a:off x="-6266071" y="2172676"/>
            <a:ext cx="14589543" cy="13471561"/>
          </a:xfrm>
          <a:custGeom>
            <a:avLst/>
            <a:gdLst/>
            <a:ahLst/>
            <a:cxnLst/>
            <a:rect r="r" b="b" t="t" l="l"/>
            <a:pathLst>
              <a:path h="13471561" w="14589543">
                <a:moveTo>
                  <a:pt x="0" y="0"/>
                </a:moveTo>
                <a:lnTo>
                  <a:pt x="14589542" y="0"/>
                </a:lnTo>
                <a:lnTo>
                  <a:pt x="14589542" y="13471561"/>
                </a:lnTo>
                <a:lnTo>
                  <a:pt x="0" y="1347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</a:blip>
            <a:stretch>
              <a:fillRect l="0" t="-3698" r="-5401" b="-104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16984">
            <a:off x="10198177" y="-9647963"/>
            <a:ext cx="14589543" cy="16342738"/>
          </a:xfrm>
          <a:custGeom>
            <a:avLst/>
            <a:gdLst/>
            <a:ahLst/>
            <a:cxnLst/>
            <a:rect r="r" b="b" t="t" l="l"/>
            <a:pathLst>
              <a:path h="16342738" w="14589543">
                <a:moveTo>
                  <a:pt x="0" y="0"/>
                </a:moveTo>
                <a:lnTo>
                  <a:pt x="14589543" y="0"/>
                </a:lnTo>
                <a:lnTo>
                  <a:pt x="14589543" y="16342738"/>
                </a:lnTo>
                <a:lnTo>
                  <a:pt x="0" y="1634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-4917" t="-3348" r="-1085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43462" y="2522821"/>
            <a:ext cx="4125754" cy="4043676"/>
            <a:chOff x="0" y="0"/>
            <a:chExt cx="829298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9298" cy="812800"/>
            </a:xfrm>
            <a:custGeom>
              <a:avLst/>
              <a:gdLst/>
              <a:ahLst/>
              <a:cxnLst/>
              <a:rect r="r" b="b" t="t" l="l"/>
              <a:pathLst>
                <a:path h="812800" w="829298">
                  <a:moveTo>
                    <a:pt x="414649" y="0"/>
                  </a:moveTo>
                  <a:cubicBezTo>
                    <a:pt x="185645" y="0"/>
                    <a:pt x="0" y="181951"/>
                    <a:pt x="0" y="406400"/>
                  </a:cubicBezTo>
                  <a:cubicBezTo>
                    <a:pt x="0" y="630849"/>
                    <a:pt x="185645" y="812800"/>
                    <a:pt x="414649" y="812800"/>
                  </a:cubicBezTo>
                  <a:cubicBezTo>
                    <a:pt x="643653" y="812800"/>
                    <a:pt x="829298" y="630849"/>
                    <a:pt x="829298" y="406400"/>
                  </a:cubicBezTo>
                  <a:cubicBezTo>
                    <a:pt x="829298" y="181951"/>
                    <a:pt x="643653" y="0"/>
                    <a:pt x="4146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7747" y="38100"/>
              <a:ext cx="673805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868693" y="2930130"/>
            <a:ext cx="3475293" cy="3229059"/>
          </a:xfrm>
          <a:custGeom>
            <a:avLst/>
            <a:gdLst/>
            <a:ahLst/>
            <a:cxnLst/>
            <a:rect r="r" b="b" t="t" l="l"/>
            <a:pathLst>
              <a:path h="3229059" w="3475293">
                <a:moveTo>
                  <a:pt x="0" y="0"/>
                </a:moveTo>
                <a:lnTo>
                  <a:pt x="3475293" y="0"/>
                </a:lnTo>
                <a:lnTo>
                  <a:pt x="3475293" y="3229059"/>
                </a:lnTo>
                <a:lnTo>
                  <a:pt x="0" y="3229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70" t="-22029" r="-13383" b="-15251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27777" y="3766073"/>
            <a:ext cx="13290428" cy="4786233"/>
            <a:chOff x="0" y="0"/>
            <a:chExt cx="17720570" cy="638164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4775"/>
              <a:ext cx="16042531" cy="4325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0748"/>
                </a:lnSpc>
              </a:pPr>
              <a:r>
                <a:rPr lang="ar-EG" b="true" sz="21840" spc="-1092">
                  <a:solidFill>
                    <a:srgbClr val="FFFFFF"/>
                  </a:solidFill>
                  <a:latin typeface="Arian Bold"/>
                  <a:ea typeface="Arian Bold"/>
                  <a:cs typeface="Arian Bold"/>
                  <a:sym typeface="Arian Bold"/>
                  <a:rtl val="true"/>
                </a:rPr>
                <a:t>سند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295136"/>
              <a:ext cx="17720570" cy="108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>
                <a:lnSpc>
                  <a:spcPts val="6286"/>
                </a:lnSpc>
              </a:pPr>
              <a:r>
                <a:rPr lang="ar-EG" sz="4836" spc="241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  <a:rtl val="true"/>
                </a:rPr>
                <a:t>م</a:t>
              </a:r>
              <a:r>
                <a:rPr lang="ar-EG" b="true" sz="4836" spc="241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  <a:rtl val="true"/>
                </a:rPr>
                <a:t>ساحتك الآمنة لتخفيف الضغط، بلهجتك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70020" y="57501"/>
            <a:ext cx="11617980" cy="69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9"/>
              </a:lnSpc>
              <a:spcBef>
                <a:spcPct val="0"/>
              </a:spcBef>
            </a:pPr>
            <a:r>
              <a:rPr lang="ar-EG" sz="374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  <a:rtl val="true"/>
              </a:rPr>
              <a:t>‫كوداثون الذكاء الاصطناعي للصحة النفسية للشباب</a:t>
            </a:r>
            <a:r>
              <a:rPr lang="en-US" sz="374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‬​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90940" y="9040120"/>
            <a:ext cx="11430000" cy="61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9"/>
              </a:lnSpc>
              <a:spcBef>
                <a:spcPct val="0"/>
              </a:spcBef>
            </a:pPr>
            <a:r>
              <a:rPr lang="ar-EG" b="true" sz="335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‫قيس · رضوان · طه · آلاء · شورى · هناء</a:t>
            </a:r>
            <a:r>
              <a:rPr lang="en-US" b="true" sz="335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‬​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9629" y="1028700"/>
            <a:ext cx="8671099" cy="8140985"/>
            <a:chOff x="0" y="0"/>
            <a:chExt cx="11561465" cy="1085464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561465" cy="1749026"/>
              <a:chOff x="0" y="0"/>
              <a:chExt cx="1924291" cy="29110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24291" cy="291108"/>
              </a:xfrm>
              <a:custGeom>
                <a:avLst/>
                <a:gdLst/>
                <a:ahLst/>
                <a:cxnLst/>
                <a:rect r="r" b="b" t="t" l="l"/>
                <a:pathLst>
                  <a:path h="291108" w="1924291">
                    <a:moveTo>
                      <a:pt x="54041" y="0"/>
                    </a:moveTo>
                    <a:lnTo>
                      <a:pt x="1870250" y="0"/>
                    </a:lnTo>
                    <a:cubicBezTo>
                      <a:pt x="1884582" y="0"/>
                      <a:pt x="1898328" y="5694"/>
                      <a:pt x="1908463" y="15828"/>
                    </a:cubicBezTo>
                    <a:cubicBezTo>
                      <a:pt x="1918597" y="25963"/>
                      <a:pt x="1924291" y="39708"/>
                      <a:pt x="1924291" y="54041"/>
                    </a:cubicBezTo>
                    <a:lnTo>
                      <a:pt x="1924291" y="237067"/>
                    </a:lnTo>
                    <a:cubicBezTo>
                      <a:pt x="1924291" y="251400"/>
                      <a:pt x="1918597" y="265145"/>
                      <a:pt x="1908463" y="275280"/>
                    </a:cubicBezTo>
                    <a:cubicBezTo>
                      <a:pt x="1898328" y="285414"/>
                      <a:pt x="1884582" y="291108"/>
                      <a:pt x="1870250" y="291108"/>
                    </a:cubicBezTo>
                    <a:lnTo>
                      <a:pt x="54041" y="291108"/>
                    </a:lnTo>
                    <a:cubicBezTo>
                      <a:pt x="39708" y="291108"/>
                      <a:pt x="25963" y="285414"/>
                      <a:pt x="15828" y="275280"/>
                    </a:cubicBezTo>
                    <a:cubicBezTo>
                      <a:pt x="5694" y="265145"/>
                      <a:pt x="0" y="251400"/>
                      <a:pt x="0" y="237067"/>
                    </a:cubicBezTo>
                    <a:lnTo>
                      <a:pt x="0" y="54041"/>
                    </a:lnTo>
                    <a:cubicBezTo>
                      <a:pt x="0" y="39708"/>
                      <a:pt x="5694" y="25963"/>
                      <a:pt x="15828" y="15828"/>
                    </a:cubicBezTo>
                    <a:cubicBezTo>
                      <a:pt x="25963" y="5694"/>
                      <a:pt x="39708" y="0"/>
                      <a:pt x="54041" y="0"/>
                    </a:cubicBezTo>
                    <a:close/>
                  </a:path>
                </a:pathLst>
              </a:custGeom>
              <a:solidFill>
                <a:srgbClr val="FFFFFF">
                  <a:alpha val="6078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1924291" cy="453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79"/>
                  </a:lnSpc>
                  <a:spcBef>
                    <a:spcPct val="0"/>
                  </a:spcBef>
                </a:pPr>
                <a:r>
                  <a:rPr lang="ar-EG" b="true" sz="3199">
                    <a:solidFill>
                      <a:srgbClr val="0F4233">
                        <a:alpha val="60784"/>
                      </a:srgbClr>
                    </a:solidFill>
                    <a:latin typeface="29LT Bukra Wide Bold"/>
                    <a:ea typeface="29LT Bukra Wide Bold"/>
                    <a:cs typeface="29LT Bukra Wide Bold"/>
                    <a:sym typeface="29LT Bukra Wide Bold"/>
                    <a:rtl val="true"/>
                  </a:rPr>
                  <a:t>المشكلة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275945"/>
              <a:ext cx="11561465" cy="1749026"/>
              <a:chOff x="0" y="0"/>
              <a:chExt cx="1924291" cy="2911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24291" cy="291108"/>
              </a:xfrm>
              <a:custGeom>
                <a:avLst/>
                <a:gdLst/>
                <a:ahLst/>
                <a:cxnLst/>
                <a:rect r="r" b="b" t="t" l="l"/>
                <a:pathLst>
                  <a:path h="291108" w="1924291">
                    <a:moveTo>
                      <a:pt x="54041" y="0"/>
                    </a:moveTo>
                    <a:lnTo>
                      <a:pt x="1870250" y="0"/>
                    </a:lnTo>
                    <a:cubicBezTo>
                      <a:pt x="1884582" y="0"/>
                      <a:pt x="1898328" y="5694"/>
                      <a:pt x="1908463" y="15828"/>
                    </a:cubicBezTo>
                    <a:cubicBezTo>
                      <a:pt x="1918597" y="25963"/>
                      <a:pt x="1924291" y="39708"/>
                      <a:pt x="1924291" y="54041"/>
                    </a:cubicBezTo>
                    <a:lnTo>
                      <a:pt x="1924291" y="237067"/>
                    </a:lnTo>
                    <a:cubicBezTo>
                      <a:pt x="1924291" y="251400"/>
                      <a:pt x="1918597" y="265145"/>
                      <a:pt x="1908463" y="275280"/>
                    </a:cubicBezTo>
                    <a:cubicBezTo>
                      <a:pt x="1898328" y="285414"/>
                      <a:pt x="1884582" y="291108"/>
                      <a:pt x="1870250" y="291108"/>
                    </a:cubicBezTo>
                    <a:lnTo>
                      <a:pt x="54041" y="291108"/>
                    </a:lnTo>
                    <a:cubicBezTo>
                      <a:pt x="39708" y="291108"/>
                      <a:pt x="25963" y="285414"/>
                      <a:pt x="15828" y="275280"/>
                    </a:cubicBezTo>
                    <a:cubicBezTo>
                      <a:pt x="5694" y="265145"/>
                      <a:pt x="0" y="251400"/>
                      <a:pt x="0" y="237067"/>
                    </a:cubicBezTo>
                    <a:lnTo>
                      <a:pt x="0" y="54041"/>
                    </a:lnTo>
                    <a:cubicBezTo>
                      <a:pt x="0" y="39708"/>
                      <a:pt x="5694" y="25963"/>
                      <a:pt x="15828" y="15828"/>
                    </a:cubicBezTo>
                    <a:cubicBezTo>
                      <a:pt x="25963" y="5694"/>
                      <a:pt x="39708" y="0"/>
                      <a:pt x="54041" y="0"/>
                    </a:cubicBezTo>
                    <a:close/>
                  </a:path>
                </a:pathLst>
              </a:custGeom>
              <a:solidFill>
                <a:srgbClr val="FFFFFF">
                  <a:alpha val="6078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1924291" cy="453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rtl="true">
                  <a:lnSpc>
                    <a:spcPts val="4479"/>
                  </a:lnSpc>
                  <a:spcBef>
                    <a:spcPct val="0"/>
                  </a:spcBef>
                </a:pPr>
                <a:r>
                  <a:rPr lang="ar-EG" b="true" sz="3199">
                    <a:solidFill>
                      <a:srgbClr val="0F4233">
                        <a:alpha val="60784"/>
                      </a:srgbClr>
                    </a:solidFill>
                    <a:latin typeface="29LT Bukra Wide Bold"/>
                    <a:ea typeface="29LT Bukra Wide Bold"/>
                    <a:cs typeface="29LT Bukra Wide Bold"/>
                    <a:sym typeface="29LT Bukra Wide Bold"/>
                    <a:rtl val="true"/>
                  </a:rPr>
                  <a:t>الفكرة و الحل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4552504"/>
              <a:ext cx="11561465" cy="1749026"/>
              <a:chOff x="0" y="0"/>
              <a:chExt cx="1924291" cy="29110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24291" cy="291108"/>
              </a:xfrm>
              <a:custGeom>
                <a:avLst/>
                <a:gdLst/>
                <a:ahLst/>
                <a:cxnLst/>
                <a:rect r="r" b="b" t="t" l="l"/>
                <a:pathLst>
                  <a:path h="291108" w="1924291">
                    <a:moveTo>
                      <a:pt x="54041" y="0"/>
                    </a:moveTo>
                    <a:lnTo>
                      <a:pt x="1870250" y="0"/>
                    </a:lnTo>
                    <a:cubicBezTo>
                      <a:pt x="1884582" y="0"/>
                      <a:pt x="1898328" y="5694"/>
                      <a:pt x="1908463" y="15828"/>
                    </a:cubicBezTo>
                    <a:cubicBezTo>
                      <a:pt x="1918597" y="25963"/>
                      <a:pt x="1924291" y="39708"/>
                      <a:pt x="1924291" y="54041"/>
                    </a:cubicBezTo>
                    <a:lnTo>
                      <a:pt x="1924291" y="237067"/>
                    </a:lnTo>
                    <a:cubicBezTo>
                      <a:pt x="1924291" y="251400"/>
                      <a:pt x="1918597" y="265145"/>
                      <a:pt x="1908463" y="275280"/>
                    </a:cubicBezTo>
                    <a:cubicBezTo>
                      <a:pt x="1898328" y="285414"/>
                      <a:pt x="1884582" y="291108"/>
                      <a:pt x="1870250" y="291108"/>
                    </a:cubicBezTo>
                    <a:lnTo>
                      <a:pt x="54041" y="291108"/>
                    </a:lnTo>
                    <a:cubicBezTo>
                      <a:pt x="39708" y="291108"/>
                      <a:pt x="25963" y="285414"/>
                      <a:pt x="15828" y="275280"/>
                    </a:cubicBezTo>
                    <a:cubicBezTo>
                      <a:pt x="5694" y="265145"/>
                      <a:pt x="0" y="251400"/>
                      <a:pt x="0" y="237067"/>
                    </a:cubicBezTo>
                    <a:lnTo>
                      <a:pt x="0" y="54041"/>
                    </a:lnTo>
                    <a:cubicBezTo>
                      <a:pt x="0" y="39708"/>
                      <a:pt x="5694" y="25963"/>
                      <a:pt x="15828" y="15828"/>
                    </a:cubicBezTo>
                    <a:cubicBezTo>
                      <a:pt x="25963" y="5694"/>
                      <a:pt x="39708" y="0"/>
                      <a:pt x="54041" y="0"/>
                    </a:cubicBezTo>
                    <a:close/>
                  </a:path>
                </a:pathLst>
              </a:custGeom>
              <a:solidFill>
                <a:srgbClr val="FFFFFF">
                  <a:alpha val="6078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1924291" cy="453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rtl="true">
                  <a:lnSpc>
                    <a:spcPts val="4479"/>
                  </a:lnSpc>
                  <a:spcBef>
                    <a:spcPct val="0"/>
                  </a:spcBef>
                </a:pPr>
                <a:r>
                  <a:rPr lang="ar-EG" b="true" sz="3199">
                    <a:solidFill>
                      <a:srgbClr val="0F4233">
                        <a:alpha val="60784"/>
                      </a:srgbClr>
                    </a:solidFill>
                    <a:latin typeface="29LT Bukra Wide Bold"/>
                    <a:ea typeface="29LT Bukra Wide Bold"/>
                    <a:cs typeface="29LT Bukra Wide Bold"/>
                    <a:sym typeface="29LT Bukra Wide Bold"/>
                    <a:rtl val="true"/>
                  </a:rPr>
                  <a:t>كيف يعمل التطبيق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6829062"/>
              <a:ext cx="11561465" cy="1749026"/>
              <a:chOff x="0" y="0"/>
              <a:chExt cx="1924291" cy="29110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24291" cy="291108"/>
              </a:xfrm>
              <a:custGeom>
                <a:avLst/>
                <a:gdLst/>
                <a:ahLst/>
                <a:cxnLst/>
                <a:rect r="r" b="b" t="t" l="l"/>
                <a:pathLst>
                  <a:path h="291108" w="1924291">
                    <a:moveTo>
                      <a:pt x="54041" y="0"/>
                    </a:moveTo>
                    <a:lnTo>
                      <a:pt x="1870250" y="0"/>
                    </a:lnTo>
                    <a:cubicBezTo>
                      <a:pt x="1884582" y="0"/>
                      <a:pt x="1898328" y="5694"/>
                      <a:pt x="1908463" y="15828"/>
                    </a:cubicBezTo>
                    <a:cubicBezTo>
                      <a:pt x="1918597" y="25963"/>
                      <a:pt x="1924291" y="39708"/>
                      <a:pt x="1924291" y="54041"/>
                    </a:cubicBezTo>
                    <a:lnTo>
                      <a:pt x="1924291" y="237067"/>
                    </a:lnTo>
                    <a:cubicBezTo>
                      <a:pt x="1924291" y="251400"/>
                      <a:pt x="1918597" y="265145"/>
                      <a:pt x="1908463" y="275280"/>
                    </a:cubicBezTo>
                    <a:cubicBezTo>
                      <a:pt x="1898328" y="285414"/>
                      <a:pt x="1884582" y="291108"/>
                      <a:pt x="1870250" y="291108"/>
                    </a:cubicBezTo>
                    <a:lnTo>
                      <a:pt x="54041" y="291108"/>
                    </a:lnTo>
                    <a:cubicBezTo>
                      <a:pt x="39708" y="291108"/>
                      <a:pt x="25963" y="285414"/>
                      <a:pt x="15828" y="275280"/>
                    </a:cubicBezTo>
                    <a:cubicBezTo>
                      <a:pt x="5694" y="265145"/>
                      <a:pt x="0" y="251400"/>
                      <a:pt x="0" y="237067"/>
                    </a:cubicBezTo>
                    <a:lnTo>
                      <a:pt x="0" y="54041"/>
                    </a:lnTo>
                    <a:cubicBezTo>
                      <a:pt x="0" y="39708"/>
                      <a:pt x="5694" y="25963"/>
                      <a:pt x="15828" y="15828"/>
                    </a:cubicBezTo>
                    <a:cubicBezTo>
                      <a:pt x="25963" y="5694"/>
                      <a:pt x="39708" y="0"/>
                      <a:pt x="54041" y="0"/>
                    </a:cubicBezTo>
                    <a:close/>
                  </a:path>
                </a:pathLst>
              </a:custGeom>
              <a:solidFill>
                <a:srgbClr val="FFFFFF">
                  <a:alpha val="6078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61925"/>
                <a:ext cx="1924291" cy="453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rtl="true">
                  <a:lnSpc>
                    <a:spcPts val="4479"/>
                  </a:lnSpc>
                  <a:spcBef>
                    <a:spcPct val="0"/>
                  </a:spcBef>
                </a:pPr>
                <a:r>
                  <a:rPr lang="ar-EG" b="true" sz="3199">
                    <a:solidFill>
                      <a:srgbClr val="0F4233">
                        <a:alpha val="60784"/>
                      </a:srgbClr>
                    </a:solidFill>
                    <a:latin typeface="29LT Bukra Wide Bold"/>
                    <a:ea typeface="29LT Bukra Wide Bold"/>
                    <a:cs typeface="29LT Bukra Wide Bold"/>
                    <a:sym typeface="29LT Bukra Wide Bold"/>
                    <a:rtl val="true"/>
                  </a:rPr>
                  <a:t>الخصوصية و الامان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9105621"/>
              <a:ext cx="11561465" cy="1749026"/>
              <a:chOff x="0" y="0"/>
              <a:chExt cx="1924291" cy="29110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24291" cy="291108"/>
              </a:xfrm>
              <a:custGeom>
                <a:avLst/>
                <a:gdLst/>
                <a:ahLst/>
                <a:cxnLst/>
                <a:rect r="r" b="b" t="t" l="l"/>
                <a:pathLst>
                  <a:path h="291108" w="1924291">
                    <a:moveTo>
                      <a:pt x="54041" y="0"/>
                    </a:moveTo>
                    <a:lnTo>
                      <a:pt x="1870250" y="0"/>
                    </a:lnTo>
                    <a:cubicBezTo>
                      <a:pt x="1884582" y="0"/>
                      <a:pt x="1898328" y="5694"/>
                      <a:pt x="1908463" y="15828"/>
                    </a:cubicBezTo>
                    <a:cubicBezTo>
                      <a:pt x="1918597" y="25963"/>
                      <a:pt x="1924291" y="39708"/>
                      <a:pt x="1924291" y="54041"/>
                    </a:cubicBezTo>
                    <a:lnTo>
                      <a:pt x="1924291" y="237067"/>
                    </a:lnTo>
                    <a:cubicBezTo>
                      <a:pt x="1924291" y="251400"/>
                      <a:pt x="1918597" y="265145"/>
                      <a:pt x="1908463" y="275280"/>
                    </a:cubicBezTo>
                    <a:cubicBezTo>
                      <a:pt x="1898328" y="285414"/>
                      <a:pt x="1884582" y="291108"/>
                      <a:pt x="1870250" y="291108"/>
                    </a:cubicBezTo>
                    <a:lnTo>
                      <a:pt x="54041" y="291108"/>
                    </a:lnTo>
                    <a:cubicBezTo>
                      <a:pt x="39708" y="291108"/>
                      <a:pt x="25963" y="285414"/>
                      <a:pt x="15828" y="275280"/>
                    </a:cubicBezTo>
                    <a:cubicBezTo>
                      <a:pt x="5694" y="265145"/>
                      <a:pt x="0" y="251400"/>
                      <a:pt x="0" y="237067"/>
                    </a:cubicBezTo>
                    <a:lnTo>
                      <a:pt x="0" y="54041"/>
                    </a:lnTo>
                    <a:cubicBezTo>
                      <a:pt x="0" y="39708"/>
                      <a:pt x="5694" y="25963"/>
                      <a:pt x="15828" y="15828"/>
                    </a:cubicBezTo>
                    <a:cubicBezTo>
                      <a:pt x="25963" y="5694"/>
                      <a:pt x="39708" y="0"/>
                      <a:pt x="54041" y="0"/>
                    </a:cubicBezTo>
                    <a:close/>
                  </a:path>
                </a:pathLst>
              </a:custGeom>
              <a:solidFill>
                <a:srgbClr val="FFFFFF">
                  <a:alpha val="60784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61925"/>
                <a:ext cx="1924291" cy="453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rtl="true">
                  <a:lnSpc>
                    <a:spcPts val="4479"/>
                  </a:lnSpc>
                  <a:spcBef>
                    <a:spcPct val="0"/>
                  </a:spcBef>
                </a:pPr>
                <a:r>
                  <a:rPr lang="ar-EG" b="true" sz="3199">
                    <a:solidFill>
                      <a:srgbClr val="0F4233">
                        <a:alpha val="60784"/>
                      </a:srgbClr>
                    </a:solidFill>
                    <a:latin typeface="29LT Bukra Wide Bold"/>
                    <a:ea typeface="29LT Bukra Wide Bold"/>
                    <a:cs typeface="29LT Bukra Wide Bold"/>
                    <a:sym typeface="29LT Bukra Wide Bold"/>
                    <a:rtl val="true"/>
                  </a:rPr>
                  <a:t>الاثر و المستقبل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15072716" y="-81515"/>
            <a:ext cx="3215284" cy="11115926"/>
            <a:chOff x="0" y="0"/>
            <a:chExt cx="846824" cy="29276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6824" cy="2927651"/>
            </a:xfrm>
            <a:custGeom>
              <a:avLst/>
              <a:gdLst/>
              <a:ahLst/>
              <a:cxnLst/>
              <a:rect r="r" b="b" t="t" l="l"/>
              <a:pathLst>
                <a:path h="2927651" w="846824">
                  <a:moveTo>
                    <a:pt x="0" y="0"/>
                  </a:moveTo>
                  <a:lnTo>
                    <a:pt x="846824" y="0"/>
                  </a:lnTo>
                  <a:lnTo>
                    <a:pt x="846824" y="2927651"/>
                  </a:lnTo>
                  <a:lnTo>
                    <a:pt x="0" y="29276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46824" cy="2965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857660" y="1162459"/>
            <a:ext cx="572204" cy="1151474"/>
          </a:xfrm>
          <a:custGeom>
            <a:avLst/>
            <a:gdLst/>
            <a:ahLst/>
            <a:cxnLst/>
            <a:rect r="r" b="b" t="t" l="l"/>
            <a:pathLst>
              <a:path h="1151474" w="572204">
                <a:moveTo>
                  <a:pt x="0" y="0"/>
                </a:moveTo>
                <a:lnTo>
                  <a:pt x="572204" y="0"/>
                </a:lnTo>
                <a:lnTo>
                  <a:pt x="572204" y="1151474"/>
                </a:lnTo>
                <a:lnTo>
                  <a:pt x="0" y="1151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24" t="0" r="-2824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791901" y="1162459"/>
            <a:ext cx="888457" cy="1219013"/>
          </a:xfrm>
          <a:custGeom>
            <a:avLst/>
            <a:gdLst/>
            <a:ahLst/>
            <a:cxnLst/>
            <a:rect r="r" b="b" t="t" l="l"/>
            <a:pathLst>
              <a:path h="1219013" w="888457">
                <a:moveTo>
                  <a:pt x="0" y="0"/>
                </a:moveTo>
                <a:lnTo>
                  <a:pt x="888457" y="0"/>
                </a:lnTo>
                <a:lnTo>
                  <a:pt x="888457" y="1219013"/>
                </a:lnTo>
                <a:lnTo>
                  <a:pt x="0" y="1219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24" t="0" r="-2824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771852" y="2815279"/>
            <a:ext cx="888457" cy="1219013"/>
          </a:xfrm>
          <a:custGeom>
            <a:avLst/>
            <a:gdLst/>
            <a:ahLst/>
            <a:cxnLst/>
            <a:rect r="r" b="b" t="t" l="l"/>
            <a:pathLst>
              <a:path h="1219013" w="888457">
                <a:moveTo>
                  <a:pt x="0" y="0"/>
                </a:moveTo>
                <a:lnTo>
                  <a:pt x="888457" y="0"/>
                </a:lnTo>
                <a:lnTo>
                  <a:pt x="888457" y="1219012"/>
                </a:lnTo>
                <a:lnTo>
                  <a:pt x="0" y="12190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24" t="0" r="-2824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824184" y="2847987"/>
            <a:ext cx="870233" cy="1186304"/>
          </a:xfrm>
          <a:custGeom>
            <a:avLst/>
            <a:gdLst/>
            <a:ahLst/>
            <a:cxnLst/>
            <a:rect r="r" b="b" t="t" l="l"/>
            <a:pathLst>
              <a:path h="1186304" w="870233">
                <a:moveTo>
                  <a:pt x="0" y="0"/>
                </a:moveTo>
                <a:lnTo>
                  <a:pt x="870232" y="0"/>
                </a:lnTo>
                <a:lnTo>
                  <a:pt x="870232" y="1186304"/>
                </a:lnTo>
                <a:lnTo>
                  <a:pt x="0" y="11863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24" t="0" r="-2824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771852" y="4413635"/>
            <a:ext cx="888457" cy="1219013"/>
          </a:xfrm>
          <a:custGeom>
            <a:avLst/>
            <a:gdLst/>
            <a:ahLst/>
            <a:cxnLst/>
            <a:rect r="r" b="b" t="t" l="l"/>
            <a:pathLst>
              <a:path h="1219013" w="888457">
                <a:moveTo>
                  <a:pt x="0" y="0"/>
                </a:moveTo>
                <a:lnTo>
                  <a:pt x="888457" y="0"/>
                </a:lnTo>
                <a:lnTo>
                  <a:pt x="888457" y="1219012"/>
                </a:lnTo>
                <a:lnTo>
                  <a:pt x="0" y="12190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24" t="0" r="-2824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822429" y="4417062"/>
            <a:ext cx="871988" cy="1212158"/>
          </a:xfrm>
          <a:custGeom>
            <a:avLst/>
            <a:gdLst/>
            <a:ahLst/>
            <a:cxnLst/>
            <a:rect r="r" b="b" t="t" l="l"/>
            <a:pathLst>
              <a:path h="1212158" w="871988">
                <a:moveTo>
                  <a:pt x="0" y="0"/>
                </a:moveTo>
                <a:lnTo>
                  <a:pt x="871987" y="0"/>
                </a:lnTo>
                <a:lnTo>
                  <a:pt x="871987" y="1212158"/>
                </a:lnTo>
                <a:lnTo>
                  <a:pt x="0" y="1212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24" t="0" r="-2824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771852" y="6010220"/>
            <a:ext cx="888457" cy="1219013"/>
          </a:xfrm>
          <a:custGeom>
            <a:avLst/>
            <a:gdLst/>
            <a:ahLst/>
            <a:cxnLst/>
            <a:rect r="r" b="b" t="t" l="l"/>
            <a:pathLst>
              <a:path h="1219013" w="888457">
                <a:moveTo>
                  <a:pt x="0" y="0"/>
                </a:moveTo>
                <a:lnTo>
                  <a:pt x="888457" y="0"/>
                </a:lnTo>
                <a:lnTo>
                  <a:pt x="888457" y="1219012"/>
                </a:lnTo>
                <a:lnTo>
                  <a:pt x="0" y="12190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24" t="0" r="-2824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771852" y="7610232"/>
            <a:ext cx="888457" cy="1219013"/>
          </a:xfrm>
          <a:custGeom>
            <a:avLst/>
            <a:gdLst/>
            <a:ahLst/>
            <a:cxnLst/>
            <a:rect r="r" b="b" t="t" l="l"/>
            <a:pathLst>
              <a:path h="1219013" w="888457">
                <a:moveTo>
                  <a:pt x="0" y="0"/>
                </a:moveTo>
                <a:lnTo>
                  <a:pt x="888457" y="0"/>
                </a:lnTo>
                <a:lnTo>
                  <a:pt x="888457" y="1219013"/>
                </a:lnTo>
                <a:lnTo>
                  <a:pt x="0" y="1219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24" t="0" r="-2824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757814" y="6010220"/>
            <a:ext cx="1002972" cy="1246615"/>
          </a:xfrm>
          <a:custGeom>
            <a:avLst/>
            <a:gdLst/>
            <a:ahLst/>
            <a:cxnLst/>
            <a:rect r="r" b="b" t="t" l="l"/>
            <a:pathLst>
              <a:path h="1246615" w="1002972">
                <a:moveTo>
                  <a:pt x="0" y="0"/>
                </a:moveTo>
                <a:lnTo>
                  <a:pt x="1002972" y="0"/>
                </a:lnTo>
                <a:lnTo>
                  <a:pt x="1002972" y="1246614"/>
                </a:lnTo>
                <a:lnTo>
                  <a:pt x="0" y="1246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24" t="0" r="-2824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901117" y="7637834"/>
            <a:ext cx="859669" cy="1252724"/>
          </a:xfrm>
          <a:custGeom>
            <a:avLst/>
            <a:gdLst/>
            <a:ahLst/>
            <a:cxnLst/>
            <a:rect r="r" b="b" t="t" l="l"/>
            <a:pathLst>
              <a:path h="1252724" w="859669">
                <a:moveTo>
                  <a:pt x="0" y="0"/>
                </a:moveTo>
                <a:lnTo>
                  <a:pt x="859669" y="0"/>
                </a:lnTo>
                <a:lnTo>
                  <a:pt x="859669" y="1252725"/>
                </a:lnTo>
                <a:lnTo>
                  <a:pt x="0" y="12527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24" t="0" r="-2824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-3716605" y="3061467"/>
            <a:ext cx="8754245" cy="3923348"/>
            <a:chOff x="0" y="0"/>
            <a:chExt cx="2305588" cy="10330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05588" cy="1033090"/>
            </a:xfrm>
            <a:custGeom>
              <a:avLst/>
              <a:gdLst/>
              <a:ahLst/>
              <a:cxnLst/>
              <a:rect r="r" b="b" t="t" l="l"/>
              <a:pathLst>
                <a:path h="1033090" w="2305588">
                  <a:moveTo>
                    <a:pt x="2305588" y="88436"/>
                  </a:moveTo>
                  <a:lnTo>
                    <a:pt x="2305588" y="944654"/>
                  </a:lnTo>
                  <a:cubicBezTo>
                    <a:pt x="2305588" y="968108"/>
                    <a:pt x="2296270" y="990603"/>
                    <a:pt x="2279685" y="1007187"/>
                  </a:cubicBezTo>
                  <a:cubicBezTo>
                    <a:pt x="2263100" y="1023772"/>
                    <a:pt x="2240606" y="1033090"/>
                    <a:pt x="2217151" y="1033090"/>
                  </a:cubicBezTo>
                  <a:lnTo>
                    <a:pt x="88436" y="1033090"/>
                  </a:lnTo>
                  <a:cubicBezTo>
                    <a:pt x="39594" y="1033090"/>
                    <a:pt x="0" y="993496"/>
                    <a:pt x="0" y="944654"/>
                  </a:cubicBezTo>
                  <a:lnTo>
                    <a:pt x="0" y="88436"/>
                  </a:lnTo>
                  <a:cubicBezTo>
                    <a:pt x="0" y="64981"/>
                    <a:pt x="9317" y="42487"/>
                    <a:pt x="25902" y="25902"/>
                  </a:cubicBezTo>
                  <a:cubicBezTo>
                    <a:pt x="42487" y="9317"/>
                    <a:pt x="64981" y="0"/>
                    <a:pt x="88436" y="0"/>
                  </a:cubicBezTo>
                  <a:lnTo>
                    <a:pt x="2217151" y="0"/>
                  </a:lnTo>
                  <a:cubicBezTo>
                    <a:pt x="2240606" y="0"/>
                    <a:pt x="2263100" y="9317"/>
                    <a:pt x="2279685" y="25902"/>
                  </a:cubicBezTo>
                  <a:cubicBezTo>
                    <a:pt x="2296270" y="42487"/>
                    <a:pt x="2305588" y="64981"/>
                    <a:pt x="2305588" y="884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305588" cy="1071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-56746" y="4679608"/>
            <a:ext cx="4132361" cy="1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99"/>
              </a:lnSpc>
              <a:spcBef>
                <a:spcPct val="0"/>
              </a:spcBef>
            </a:pPr>
            <a:r>
              <a:rPr lang="en-US" b="true" sz="8356">
                <a:solidFill>
                  <a:srgbClr val="155D48"/>
                </a:solidFill>
                <a:latin typeface="Amiri Bold"/>
                <a:ea typeface="Amiri Bold"/>
                <a:cs typeface="Amiri Bold"/>
                <a:sym typeface="Amiri Bold"/>
              </a:rPr>
              <a:t> </a:t>
            </a:r>
            <a:r>
              <a:rPr lang="ar-EG" b="true" sz="8356">
                <a:solidFill>
                  <a:srgbClr val="155D48"/>
                </a:solidFill>
                <a:latin typeface="Amiri Bold"/>
                <a:ea typeface="Amiri Bold"/>
                <a:cs typeface="Amiri Bold"/>
                <a:sym typeface="Amiri Bold"/>
                <a:rtl val="true"/>
              </a:rPr>
              <a:t>المحتويات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39419" y="3567676"/>
            <a:ext cx="2099131" cy="127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0488"/>
              </a:lnSpc>
              <a:spcBef>
                <a:spcPct val="0"/>
              </a:spcBef>
            </a:pPr>
            <a:r>
              <a:rPr lang="ar-EG" b="true" sz="7491">
                <a:solidFill>
                  <a:srgbClr val="1D5D4B"/>
                </a:solidFill>
                <a:latin typeface="Amiri Bold"/>
                <a:ea typeface="Amiri Bold"/>
                <a:cs typeface="Amiri Bold"/>
                <a:sym typeface="Amiri Bold"/>
                <a:rtl val="true"/>
              </a:rPr>
              <a:t>جدول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15363" y="9569410"/>
            <a:ext cx="245155" cy="44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2</a:t>
            </a:r>
          </a:p>
        </p:txBody>
      </p:sp>
    </p:spTree>
  </p:cSld>
  <p:clrMapOvr>
    <a:masterClrMapping/>
  </p:clrMapOvr>
  <p:transition spd="fast">
    <p:push dir="r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8204" y="4208666"/>
            <a:ext cx="4663139" cy="4323512"/>
          </a:xfrm>
          <a:custGeom>
            <a:avLst/>
            <a:gdLst/>
            <a:ahLst/>
            <a:cxnLst/>
            <a:rect r="r" b="b" t="t" l="l"/>
            <a:pathLst>
              <a:path h="4323512" w="4663139">
                <a:moveTo>
                  <a:pt x="0" y="0"/>
                </a:moveTo>
                <a:lnTo>
                  <a:pt x="4663139" y="0"/>
                </a:lnTo>
                <a:lnTo>
                  <a:pt x="4663139" y="4323512"/>
                </a:lnTo>
                <a:lnTo>
                  <a:pt x="0" y="432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8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4961" y="1182735"/>
            <a:ext cx="13788331" cy="3025931"/>
            <a:chOff x="0" y="0"/>
            <a:chExt cx="3631495" cy="7969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31495" cy="796953"/>
            </a:xfrm>
            <a:custGeom>
              <a:avLst/>
              <a:gdLst/>
              <a:ahLst/>
              <a:cxnLst/>
              <a:rect r="r" b="b" t="t" l="l"/>
              <a:pathLst>
                <a:path h="796953" w="3631495">
                  <a:moveTo>
                    <a:pt x="28636" y="0"/>
                  </a:moveTo>
                  <a:lnTo>
                    <a:pt x="3602859" y="0"/>
                  </a:lnTo>
                  <a:cubicBezTo>
                    <a:pt x="3618674" y="0"/>
                    <a:pt x="3631495" y="12821"/>
                    <a:pt x="3631495" y="28636"/>
                  </a:cubicBezTo>
                  <a:lnTo>
                    <a:pt x="3631495" y="768317"/>
                  </a:lnTo>
                  <a:cubicBezTo>
                    <a:pt x="3631495" y="784132"/>
                    <a:pt x="3618674" y="796953"/>
                    <a:pt x="3602859" y="796953"/>
                  </a:cubicBezTo>
                  <a:lnTo>
                    <a:pt x="28636" y="796953"/>
                  </a:lnTo>
                  <a:cubicBezTo>
                    <a:pt x="12821" y="796953"/>
                    <a:pt x="0" y="784132"/>
                    <a:pt x="0" y="768317"/>
                  </a:cubicBezTo>
                  <a:lnTo>
                    <a:pt x="0" y="28636"/>
                  </a:lnTo>
                  <a:cubicBezTo>
                    <a:pt x="0" y="12821"/>
                    <a:pt x="12821" y="0"/>
                    <a:pt x="286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23837"/>
              <a:ext cx="3631495" cy="1244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5319"/>
                </a:lnSpc>
              </a:pPr>
              <a:r>
                <a:rPr lang="ar-EG" b="true" sz="3799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الضغط عند الشباب يتراكم بصمت, والحديث عن الضغط النفسي ما زال محرجاً، فلا يطلب كثيرون المساعدة إلا بعد أن يتحول الضغط إلى أزمة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287486" y="524664"/>
            <a:ext cx="5334000" cy="79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452"/>
              </a:lnSpc>
              <a:spcBef>
                <a:spcPct val="0"/>
              </a:spcBef>
            </a:pP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المشكلة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82064" y="4925182"/>
            <a:ext cx="9129924" cy="1207283"/>
            <a:chOff x="0" y="0"/>
            <a:chExt cx="2413108" cy="3190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108" cy="319094"/>
            </a:xfrm>
            <a:custGeom>
              <a:avLst/>
              <a:gdLst/>
              <a:ahLst/>
              <a:cxnLst/>
              <a:rect r="r" b="b" t="t" l="l"/>
              <a:pathLst>
                <a:path h="319094" w="2413108">
                  <a:moveTo>
                    <a:pt x="43247" y="0"/>
                  </a:moveTo>
                  <a:lnTo>
                    <a:pt x="2369861" y="0"/>
                  </a:lnTo>
                  <a:cubicBezTo>
                    <a:pt x="2381331" y="0"/>
                    <a:pt x="2392331" y="4556"/>
                    <a:pt x="2400441" y="12667"/>
                  </a:cubicBezTo>
                  <a:cubicBezTo>
                    <a:pt x="2408551" y="20777"/>
                    <a:pt x="2413108" y="31777"/>
                    <a:pt x="2413108" y="43247"/>
                  </a:cubicBezTo>
                  <a:lnTo>
                    <a:pt x="2413108" y="275847"/>
                  </a:lnTo>
                  <a:cubicBezTo>
                    <a:pt x="2413108" y="287317"/>
                    <a:pt x="2408551" y="298317"/>
                    <a:pt x="2400441" y="306427"/>
                  </a:cubicBezTo>
                  <a:cubicBezTo>
                    <a:pt x="2392331" y="314538"/>
                    <a:pt x="2381331" y="319094"/>
                    <a:pt x="2369861" y="319094"/>
                  </a:cubicBezTo>
                  <a:lnTo>
                    <a:pt x="43247" y="319094"/>
                  </a:lnTo>
                  <a:cubicBezTo>
                    <a:pt x="31777" y="319094"/>
                    <a:pt x="20777" y="314538"/>
                    <a:pt x="12667" y="306427"/>
                  </a:cubicBezTo>
                  <a:cubicBezTo>
                    <a:pt x="4556" y="298317"/>
                    <a:pt x="0" y="287317"/>
                    <a:pt x="0" y="275847"/>
                  </a:cubicBezTo>
                  <a:lnTo>
                    <a:pt x="0" y="43247"/>
                  </a:lnTo>
                  <a:cubicBezTo>
                    <a:pt x="0" y="31777"/>
                    <a:pt x="4556" y="20777"/>
                    <a:pt x="12667" y="12667"/>
                  </a:cubicBezTo>
                  <a:cubicBezTo>
                    <a:pt x="20777" y="4556"/>
                    <a:pt x="31777" y="0"/>
                    <a:pt x="43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14312"/>
              <a:ext cx="2413108" cy="747719"/>
            </a:xfrm>
            <a:prstGeom prst="rect">
              <a:avLst/>
            </a:prstGeom>
          </p:spPr>
          <p:txBody>
            <a:bodyPr anchor="ctr" rtlCol="false" tIns="50621" lIns="50621" bIns="50621" rIns="50621"/>
            <a:lstStyle/>
            <a:p>
              <a:pPr algn="ctr" rtl="true">
                <a:lnSpc>
                  <a:spcPts val="5179"/>
                </a:lnSpc>
              </a:pPr>
              <a:r>
                <a:rPr lang="ar-EG" b="true" sz="3699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 امتحانات قريبة ونتائج مصيرية وخوف من الرسوب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49126" y="4725292"/>
            <a:ext cx="2314380" cy="1407172"/>
            <a:chOff x="0" y="0"/>
            <a:chExt cx="1336815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6815" cy="812800"/>
            </a:xfrm>
            <a:custGeom>
              <a:avLst/>
              <a:gdLst/>
              <a:ahLst/>
              <a:cxnLst/>
              <a:rect r="r" b="b" t="t" l="l"/>
              <a:pathLst>
                <a:path h="812800" w="1336815">
                  <a:moveTo>
                    <a:pt x="668407" y="0"/>
                  </a:moveTo>
                  <a:cubicBezTo>
                    <a:pt x="299256" y="0"/>
                    <a:pt x="0" y="181951"/>
                    <a:pt x="0" y="406400"/>
                  </a:cubicBezTo>
                  <a:cubicBezTo>
                    <a:pt x="0" y="630849"/>
                    <a:pt x="299256" y="812800"/>
                    <a:pt x="668407" y="812800"/>
                  </a:cubicBezTo>
                  <a:cubicBezTo>
                    <a:pt x="1037558" y="812800"/>
                    <a:pt x="1336815" y="630849"/>
                    <a:pt x="1336815" y="406400"/>
                  </a:cubicBezTo>
                  <a:cubicBezTo>
                    <a:pt x="1336815" y="181951"/>
                    <a:pt x="1037558" y="0"/>
                    <a:pt x="6684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5326" y="-66675"/>
              <a:ext cx="1086162" cy="803275"/>
            </a:xfrm>
            <a:prstGeom prst="rect">
              <a:avLst/>
            </a:prstGeom>
          </p:spPr>
          <p:txBody>
            <a:bodyPr anchor="ctr" rtlCol="false" tIns="50621" lIns="50621" bIns="50621" rIns="50621"/>
            <a:lstStyle/>
            <a:p>
              <a:pPr algn="ctr" rtl="true">
                <a:lnSpc>
                  <a:spcPts val="4059"/>
                </a:lnSpc>
              </a:pPr>
              <a:r>
                <a:rPr lang="ar-EG" b="true" sz="2899">
                  <a:gradFill>
                    <a:gsLst>
                      <a:gs pos="0">
                        <a:srgbClr val="4562CB">
                          <a:alpha val="100000"/>
                        </a:srgbClr>
                      </a:gs>
                      <a:gs pos="100000">
                        <a:srgbClr val="2A9F80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29LT Bukra Wide Bold"/>
                  <a:ea typeface="29LT Bukra Wide Bold"/>
                  <a:cs typeface="29LT Bukra Wide Bold"/>
                  <a:sym typeface="29LT Bukra Wide Bold"/>
                  <a:rtl val="true"/>
                </a:rPr>
                <a:t>الدراسة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51584" y="6542039"/>
            <a:ext cx="10205692" cy="1180700"/>
            <a:chOff x="0" y="0"/>
            <a:chExt cx="2697441" cy="3120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97441" cy="312068"/>
            </a:xfrm>
            <a:custGeom>
              <a:avLst/>
              <a:gdLst/>
              <a:ahLst/>
              <a:cxnLst/>
              <a:rect r="r" b="b" t="t" l="l"/>
              <a:pathLst>
                <a:path h="312068" w="2697441">
                  <a:moveTo>
                    <a:pt x="38688" y="0"/>
                  </a:moveTo>
                  <a:lnTo>
                    <a:pt x="2658753" y="0"/>
                  </a:lnTo>
                  <a:cubicBezTo>
                    <a:pt x="2669014" y="0"/>
                    <a:pt x="2678854" y="4076"/>
                    <a:pt x="2686110" y="11331"/>
                  </a:cubicBezTo>
                  <a:cubicBezTo>
                    <a:pt x="2693365" y="18587"/>
                    <a:pt x="2697441" y="28427"/>
                    <a:pt x="2697441" y="38688"/>
                  </a:cubicBezTo>
                  <a:lnTo>
                    <a:pt x="2697441" y="273380"/>
                  </a:lnTo>
                  <a:cubicBezTo>
                    <a:pt x="2697441" y="283641"/>
                    <a:pt x="2693365" y="293481"/>
                    <a:pt x="2686110" y="300737"/>
                  </a:cubicBezTo>
                  <a:cubicBezTo>
                    <a:pt x="2678854" y="307992"/>
                    <a:pt x="2669014" y="312068"/>
                    <a:pt x="2658753" y="312068"/>
                  </a:cubicBezTo>
                  <a:lnTo>
                    <a:pt x="38688" y="312068"/>
                  </a:lnTo>
                  <a:cubicBezTo>
                    <a:pt x="28427" y="312068"/>
                    <a:pt x="18587" y="307992"/>
                    <a:pt x="11331" y="300737"/>
                  </a:cubicBezTo>
                  <a:cubicBezTo>
                    <a:pt x="4076" y="293481"/>
                    <a:pt x="0" y="283641"/>
                    <a:pt x="0" y="273380"/>
                  </a:cubicBezTo>
                  <a:lnTo>
                    <a:pt x="0" y="38688"/>
                  </a:lnTo>
                  <a:cubicBezTo>
                    <a:pt x="0" y="28427"/>
                    <a:pt x="4076" y="18587"/>
                    <a:pt x="11331" y="11331"/>
                  </a:cubicBezTo>
                  <a:cubicBezTo>
                    <a:pt x="18587" y="4076"/>
                    <a:pt x="28427" y="0"/>
                    <a:pt x="386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28600"/>
              <a:ext cx="2697441" cy="769268"/>
            </a:xfrm>
            <a:prstGeom prst="rect">
              <a:avLst/>
            </a:prstGeom>
          </p:spPr>
          <p:txBody>
            <a:bodyPr anchor="ctr" rtlCol="false" tIns="50621" lIns="50621" bIns="50621" rIns="50621"/>
            <a:lstStyle/>
            <a:p>
              <a:pPr algn="ctr" rtl="true">
                <a:lnSpc>
                  <a:spcPts val="5459"/>
                </a:lnSpc>
              </a:pPr>
              <a:r>
                <a:rPr lang="ar-EG" b="true" sz="3899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بطالة بعد التخرج ونقص السيولة وغلاء المعيشة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50283" y="6290998"/>
            <a:ext cx="2647059" cy="1492093"/>
            <a:chOff x="0" y="0"/>
            <a:chExt cx="1486501" cy="8379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86501" cy="837910"/>
            </a:xfrm>
            <a:custGeom>
              <a:avLst/>
              <a:gdLst/>
              <a:ahLst/>
              <a:cxnLst/>
              <a:rect r="r" b="b" t="t" l="l"/>
              <a:pathLst>
                <a:path h="837910" w="1486501">
                  <a:moveTo>
                    <a:pt x="743251" y="0"/>
                  </a:moveTo>
                  <a:cubicBezTo>
                    <a:pt x="332765" y="0"/>
                    <a:pt x="0" y="187573"/>
                    <a:pt x="0" y="418955"/>
                  </a:cubicBezTo>
                  <a:cubicBezTo>
                    <a:pt x="0" y="650338"/>
                    <a:pt x="332765" y="837910"/>
                    <a:pt x="743251" y="837910"/>
                  </a:cubicBezTo>
                  <a:cubicBezTo>
                    <a:pt x="1153737" y="837910"/>
                    <a:pt x="1486501" y="650338"/>
                    <a:pt x="1486501" y="418955"/>
                  </a:cubicBezTo>
                  <a:cubicBezTo>
                    <a:pt x="1486501" y="187573"/>
                    <a:pt x="1153737" y="0"/>
                    <a:pt x="7432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39360" y="-73846"/>
              <a:ext cx="1207782" cy="833202"/>
            </a:xfrm>
            <a:prstGeom prst="rect">
              <a:avLst/>
            </a:prstGeom>
          </p:spPr>
          <p:txBody>
            <a:bodyPr anchor="ctr" rtlCol="false" tIns="50621" lIns="50621" bIns="50621" rIns="50621"/>
            <a:lstStyle/>
            <a:p>
              <a:pPr algn="ctr" rtl="true">
                <a:lnSpc>
                  <a:spcPts val="3919"/>
                </a:lnSpc>
              </a:pPr>
              <a:r>
                <a:rPr lang="ar-EG" b="true" sz="2799">
                  <a:gradFill>
                    <a:gsLst>
                      <a:gs pos="0">
                        <a:srgbClr val="4562CB">
                          <a:alpha val="100000"/>
                        </a:srgbClr>
                      </a:gs>
                      <a:gs pos="100000">
                        <a:srgbClr val="2A9F80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29LT Bukra Wide Bold"/>
                  <a:ea typeface="29LT Bukra Wide Bold"/>
                  <a:cs typeface="29LT Bukra Wide Bold"/>
                  <a:sym typeface="29LT Bukra Wide Bold"/>
                  <a:rtl val="true"/>
                </a:rPr>
                <a:t>العمل و</a:t>
              </a:r>
            </a:p>
            <a:p>
              <a:pPr algn="ctr" rtl="true">
                <a:lnSpc>
                  <a:spcPts val="3919"/>
                </a:lnSpc>
              </a:pPr>
              <a:r>
                <a:rPr lang="ar-EG" b="true" sz="2799">
                  <a:gradFill>
                    <a:gsLst>
                      <a:gs pos="0">
                        <a:srgbClr val="4562CB">
                          <a:alpha val="100000"/>
                        </a:srgbClr>
                      </a:gs>
                      <a:gs pos="100000">
                        <a:srgbClr val="2A9F80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29LT Bukra Wide Bold"/>
                  <a:ea typeface="29LT Bukra Wide Bold"/>
                  <a:cs typeface="29LT Bukra Wide Bold"/>
                  <a:sym typeface="29LT Bukra Wide Bold"/>
                  <a:rtl val="true"/>
                </a:rPr>
                <a:t> المال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73813" y="8158897"/>
            <a:ext cx="11083463" cy="1270077"/>
            <a:chOff x="0" y="0"/>
            <a:chExt cx="2929443" cy="3356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9443" cy="335691"/>
            </a:xfrm>
            <a:custGeom>
              <a:avLst/>
              <a:gdLst/>
              <a:ahLst/>
              <a:cxnLst/>
              <a:rect r="r" b="b" t="t" l="l"/>
              <a:pathLst>
                <a:path h="335691" w="2929443">
                  <a:moveTo>
                    <a:pt x="35624" y="0"/>
                  </a:moveTo>
                  <a:lnTo>
                    <a:pt x="2893819" y="0"/>
                  </a:lnTo>
                  <a:cubicBezTo>
                    <a:pt x="2913493" y="0"/>
                    <a:pt x="2929443" y="15949"/>
                    <a:pt x="2929443" y="35624"/>
                  </a:cubicBezTo>
                  <a:lnTo>
                    <a:pt x="2929443" y="300067"/>
                  </a:lnTo>
                  <a:cubicBezTo>
                    <a:pt x="2929443" y="309515"/>
                    <a:pt x="2925689" y="318576"/>
                    <a:pt x="2919009" y="325257"/>
                  </a:cubicBezTo>
                  <a:cubicBezTo>
                    <a:pt x="2912328" y="331938"/>
                    <a:pt x="2903267" y="335691"/>
                    <a:pt x="2893819" y="335691"/>
                  </a:cubicBezTo>
                  <a:lnTo>
                    <a:pt x="35624" y="335691"/>
                  </a:lnTo>
                  <a:cubicBezTo>
                    <a:pt x="15949" y="335691"/>
                    <a:pt x="0" y="319741"/>
                    <a:pt x="0" y="300067"/>
                  </a:cubicBezTo>
                  <a:lnTo>
                    <a:pt x="0" y="35624"/>
                  </a:lnTo>
                  <a:cubicBezTo>
                    <a:pt x="0" y="15949"/>
                    <a:pt x="15949" y="0"/>
                    <a:pt x="356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47650"/>
              <a:ext cx="2929443" cy="830991"/>
            </a:xfrm>
            <a:prstGeom prst="rect">
              <a:avLst/>
            </a:prstGeom>
          </p:spPr>
          <p:txBody>
            <a:bodyPr anchor="ctr" rtlCol="false" tIns="50621" lIns="50621" bIns="50621" rIns="50621"/>
            <a:lstStyle/>
            <a:p>
              <a:pPr algn="ctr" rtl="true">
                <a:lnSpc>
                  <a:spcPts val="5879"/>
                </a:lnSpc>
              </a:pPr>
              <a:r>
                <a:rPr lang="ar-EG" b="true" sz="4199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مقارنات وتوقعات عالية وخلافات لا تُقال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1343" y="7945016"/>
            <a:ext cx="2677327" cy="1492093"/>
            <a:chOff x="0" y="0"/>
            <a:chExt cx="1503499" cy="8379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03499" cy="837910"/>
            </a:xfrm>
            <a:custGeom>
              <a:avLst/>
              <a:gdLst/>
              <a:ahLst/>
              <a:cxnLst/>
              <a:rect r="r" b="b" t="t" l="l"/>
              <a:pathLst>
                <a:path h="837910" w="1503499">
                  <a:moveTo>
                    <a:pt x="751749" y="0"/>
                  </a:moveTo>
                  <a:cubicBezTo>
                    <a:pt x="336570" y="0"/>
                    <a:pt x="0" y="187573"/>
                    <a:pt x="0" y="418955"/>
                  </a:cubicBezTo>
                  <a:cubicBezTo>
                    <a:pt x="0" y="650338"/>
                    <a:pt x="336570" y="837910"/>
                    <a:pt x="751749" y="837910"/>
                  </a:cubicBezTo>
                  <a:cubicBezTo>
                    <a:pt x="1166929" y="837910"/>
                    <a:pt x="1503499" y="650338"/>
                    <a:pt x="1503499" y="418955"/>
                  </a:cubicBezTo>
                  <a:cubicBezTo>
                    <a:pt x="1503499" y="187573"/>
                    <a:pt x="1166929" y="0"/>
                    <a:pt x="751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40953" y="-73846"/>
              <a:ext cx="1221593" cy="833202"/>
            </a:xfrm>
            <a:prstGeom prst="rect">
              <a:avLst/>
            </a:prstGeom>
          </p:spPr>
          <p:txBody>
            <a:bodyPr anchor="ctr" rtlCol="false" tIns="50621" lIns="50621" bIns="50621" rIns="50621"/>
            <a:lstStyle/>
            <a:p>
              <a:pPr algn="ctr" rtl="true">
                <a:lnSpc>
                  <a:spcPts val="3919"/>
                </a:lnSpc>
              </a:pPr>
              <a:r>
                <a:rPr lang="ar-EG" b="true" sz="2799">
                  <a:gradFill>
                    <a:gsLst>
                      <a:gs pos="0">
                        <a:srgbClr val="4562CB">
                          <a:alpha val="100000"/>
                        </a:srgbClr>
                      </a:gs>
                      <a:gs pos="100000">
                        <a:srgbClr val="2A9F80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29LT Bukra Wide Bold"/>
                  <a:ea typeface="29LT Bukra Wide Bold"/>
                  <a:cs typeface="29LT Bukra Wide Bold"/>
                  <a:sym typeface="29LT Bukra Wide Bold"/>
                  <a:rtl val="true"/>
                </a:rPr>
                <a:t>الاسرة و العلاقات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804968" y="9660214"/>
            <a:ext cx="241532" cy="44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3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2216" y="4598060"/>
            <a:ext cx="3086100" cy="4175747"/>
            <a:chOff x="0" y="0"/>
            <a:chExt cx="812800" cy="10997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099785"/>
            </a:xfrm>
            <a:custGeom>
              <a:avLst/>
              <a:gdLst/>
              <a:ahLst/>
              <a:cxnLst/>
              <a:rect r="r" b="b" t="t" l="l"/>
              <a:pathLst>
                <a:path h="109978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971844"/>
                  </a:lnTo>
                  <a:cubicBezTo>
                    <a:pt x="812800" y="1005776"/>
                    <a:pt x="799321" y="1038319"/>
                    <a:pt x="775327" y="1062312"/>
                  </a:cubicBezTo>
                  <a:cubicBezTo>
                    <a:pt x="751333" y="1086306"/>
                    <a:pt x="718791" y="1099785"/>
                    <a:pt x="684859" y="1099785"/>
                  </a:cubicBezTo>
                  <a:lnTo>
                    <a:pt x="127941" y="1099785"/>
                  </a:lnTo>
                  <a:cubicBezTo>
                    <a:pt x="94009" y="1099785"/>
                    <a:pt x="61467" y="1086306"/>
                    <a:pt x="37473" y="1062312"/>
                  </a:cubicBezTo>
                  <a:cubicBezTo>
                    <a:pt x="13479" y="1038319"/>
                    <a:pt x="0" y="1005776"/>
                    <a:pt x="0" y="97184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2800" cy="114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3219"/>
                </a:lnSpc>
              </a:pPr>
              <a:r>
                <a:rPr lang="ar-EG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rtl val="true"/>
                </a:rPr>
                <a:t>عن يومك بلهجتك، مع مزاجك ونومك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10381" y="4598060"/>
            <a:ext cx="3086100" cy="4175747"/>
            <a:chOff x="0" y="0"/>
            <a:chExt cx="812800" cy="10997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99785"/>
            </a:xfrm>
            <a:custGeom>
              <a:avLst/>
              <a:gdLst/>
              <a:ahLst/>
              <a:cxnLst/>
              <a:rect r="r" b="b" t="t" l="l"/>
              <a:pathLst>
                <a:path h="109978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971844"/>
                  </a:lnTo>
                  <a:cubicBezTo>
                    <a:pt x="812800" y="1005776"/>
                    <a:pt x="799321" y="1038319"/>
                    <a:pt x="775327" y="1062312"/>
                  </a:cubicBezTo>
                  <a:cubicBezTo>
                    <a:pt x="751333" y="1086306"/>
                    <a:pt x="718791" y="1099785"/>
                    <a:pt x="684859" y="1099785"/>
                  </a:cubicBezTo>
                  <a:lnTo>
                    <a:pt x="127941" y="1099785"/>
                  </a:lnTo>
                  <a:cubicBezTo>
                    <a:pt x="94009" y="1099785"/>
                    <a:pt x="61467" y="1086306"/>
                    <a:pt x="37473" y="1062312"/>
                  </a:cubicBezTo>
                  <a:cubicBezTo>
                    <a:pt x="13479" y="1038319"/>
                    <a:pt x="0" y="1005776"/>
                    <a:pt x="0" y="97184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113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799"/>
                </a:lnSpc>
              </a:pPr>
              <a:r>
                <a:rPr lang="ar-EG" sz="1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rtl val="true"/>
                </a:rPr>
                <a:t>‫تمرين تهدئة، أو رسالة </a:t>
              </a:r>
              <a:r>
                <a:rPr lang="ar-EG" b="true" sz="1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  <a:rtl val="true"/>
                </a:rPr>
                <a:t>كيف نقولها؟</a:t>
              </a:r>
              <a:r>
                <a:rPr lang="ar-EG" sz="1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rtl val="true"/>
                </a:rPr>
                <a:t>، أو دعم فوري‬​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580745">
            <a:off x="8369754" y="6202361"/>
            <a:ext cx="2457112" cy="1806810"/>
          </a:xfrm>
          <a:custGeom>
            <a:avLst/>
            <a:gdLst/>
            <a:ahLst/>
            <a:cxnLst/>
            <a:rect r="r" b="b" t="t" l="l"/>
            <a:pathLst>
              <a:path h="1806810" w="2457112">
                <a:moveTo>
                  <a:pt x="0" y="0"/>
                </a:moveTo>
                <a:lnTo>
                  <a:pt x="2457112" y="0"/>
                </a:lnTo>
                <a:lnTo>
                  <a:pt x="2457112" y="1806811"/>
                </a:lnTo>
                <a:lnTo>
                  <a:pt x="0" y="1806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3586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032116" y="4598060"/>
            <a:ext cx="3086100" cy="4175747"/>
            <a:chOff x="0" y="0"/>
            <a:chExt cx="812800" cy="10997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99785"/>
            </a:xfrm>
            <a:custGeom>
              <a:avLst/>
              <a:gdLst/>
              <a:ahLst/>
              <a:cxnLst/>
              <a:rect r="r" b="b" t="t" l="l"/>
              <a:pathLst>
                <a:path h="109978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971844"/>
                  </a:lnTo>
                  <a:cubicBezTo>
                    <a:pt x="812800" y="1005776"/>
                    <a:pt x="799321" y="1038319"/>
                    <a:pt x="775327" y="1062312"/>
                  </a:cubicBezTo>
                  <a:cubicBezTo>
                    <a:pt x="751333" y="1086306"/>
                    <a:pt x="718791" y="1099785"/>
                    <a:pt x="684859" y="1099785"/>
                  </a:cubicBezTo>
                  <a:lnTo>
                    <a:pt x="127941" y="1099785"/>
                  </a:lnTo>
                  <a:cubicBezTo>
                    <a:pt x="94009" y="1099785"/>
                    <a:pt x="61467" y="1086306"/>
                    <a:pt x="37473" y="1062312"/>
                  </a:cubicBezTo>
                  <a:cubicBezTo>
                    <a:pt x="13479" y="1038319"/>
                    <a:pt x="0" y="1005776"/>
                    <a:pt x="0" y="97184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1147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3219"/>
                </a:lnSpc>
              </a:pPr>
              <a:r>
                <a:rPr lang="ar-EG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rtl val="true"/>
                </a:rPr>
                <a:t>الذكاء الاصطناعي يحدد المستوى والمصدر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00521" y="4598060"/>
            <a:ext cx="3086100" cy="4175747"/>
            <a:chOff x="0" y="0"/>
            <a:chExt cx="812800" cy="10997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099785"/>
            </a:xfrm>
            <a:custGeom>
              <a:avLst/>
              <a:gdLst/>
              <a:ahLst/>
              <a:cxnLst/>
              <a:rect r="r" b="b" t="t" l="l"/>
              <a:pathLst>
                <a:path h="109978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971844"/>
                  </a:lnTo>
                  <a:cubicBezTo>
                    <a:pt x="812800" y="1005776"/>
                    <a:pt x="799321" y="1038319"/>
                    <a:pt x="775327" y="1062312"/>
                  </a:cubicBezTo>
                  <a:cubicBezTo>
                    <a:pt x="751333" y="1086306"/>
                    <a:pt x="718791" y="1099785"/>
                    <a:pt x="684859" y="1099785"/>
                  </a:cubicBezTo>
                  <a:lnTo>
                    <a:pt x="127941" y="1099785"/>
                  </a:lnTo>
                  <a:cubicBezTo>
                    <a:pt x="94009" y="1099785"/>
                    <a:pt x="61467" y="1086306"/>
                    <a:pt x="37473" y="1062312"/>
                  </a:cubicBezTo>
                  <a:cubicBezTo>
                    <a:pt x="13479" y="1038319"/>
                    <a:pt x="0" y="1005776"/>
                    <a:pt x="0" y="97184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1137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939"/>
                </a:lnSpc>
              </a:pPr>
              <a:r>
                <a:rPr lang="ar-EG" sz="2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rtl val="true"/>
                </a:rPr>
                <a:t>أرقام مجمّعة للجامعات تنذر مبكراً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822469" y="7245924"/>
            <a:ext cx="1231111" cy="1231111"/>
          </a:xfrm>
          <a:custGeom>
            <a:avLst/>
            <a:gdLst/>
            <a:ahLst/>
            <a:cxnLst/>
            <a:rect r="r" b="b" t="t" l="l"/>
            <a:pathLst>
              <a:path h="1231111" w="1231111">
                <a:moveTo>
                  <a:pt x="0" y="0"/>
                </a:moveTo>
                <a:lnTo>
                  <a:pt x="1231111" y="0"/>
                </a:lnTo>
                <a:lnTo>
                  <a:pt x="1231111" y="1231111"/>
                </a:lnTo>
                <a:lnTo>
                  <a:pt x="0" y="1231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66098" y="7113296"/>
            <a:ext cx="1218136" cy="1218136"/>
          </a:xfrm>
          <a:custGeom>
            <a:avLst/>
            <a:gdLst/>
            <a:ahLst/>
            <a:cxnLst/>
            <a:rect r="r" b="b" t="t" l="l"/>
            <a:pathLst>
              <a:path h="1218136" w="1218136">
                <a:moveTo>
                  <a:pt x="0" y="0"/>
                </a:moveTo>
                <a:lnTo>
                  <a:pt x="1218136" y="0"/>
                </a:lnTo>
                <a:lnTo>
                  <a:pt x="1218136" y="1218136"/>
                </a:lnTo>
                <a:lnTo>
                  <a:pt x="0" y="1218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5642375">
            <a:off x="4400607" y="5474001"/>
            <a:ext cx="1572098" cy="3403365"/>
          </a:xfrm>
          <a:custGeom>
            <a:avLst/>
            <a:gdLst/>
            <a:ahLst/>
            <a:cxnLst/>
            <a:rect r="r" b="b" t="t" l="l"/>
            <a:pathLst>
              <a:path h="3403365" w="1572098">
                <a:moveTo>
                  <a:pt x="1572098" y="0"/>
                </a:moveTo>
                <a:lnTo>
                  <a:pt x="0" y="0"/>
                </a:lnTo>
                <a:lnTo>
                  <a:pt x="0" y="3403365"/>
                </a:lnTo>
                <a:lnTo>
                  <a:pt x="1572098" y="3403365"/>
                </a:lnTo>
                <a:lnTo>
                  <a:pt x="15720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84039" t="-11523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82869" y="7390307"/>
            <a:ext cx="941124" cy="941124"/>
          </a:xfrm>
          <a:custGeom>
            <a:avLst/>
            <a:gdLst/>
            <a:ahLst/>
            <a:cxnLst/>
            <a:rect r="r" b="b" t="t" l="l"/>
            <a:pathLst>
              <a:path h="941124" w="941124">
                <a:moveTo>
                  <a:pt x="0" y="0"/>
                </a:moveTo>
                <a:lnTo>
                  <a:pt x="941124" y="0"/>
                </a:lnTo>
                <a:lnTo>
                  <a:pt x="941124" y="941125"/>
                </a:lnTo>
                <a:lnTo>
                  <a:pt x="0" y="941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12514" y="7014920"/>
            <a:ext cx="1462115" cy="1462115"/>
          </a:xfrm>
          <a:custGeom>
            <a:avLst/>
            <a:gdLst/>
            <a:ahLst/>
            <a:cxnLst/>
            <a:rect r="r" b="b" t="t" l="l"/>
            <a:pathLst>
              <a:path h="1462115" w="1462115">
                <a:moveTo>
                  <a:pt x="0" y="0"/>
                </a:moveTo>
                <a:lnTo>
                  <a:pt x="1462115" y="0"/>
                </a:lnTo>
                <a:lnTo>
                  <a:pt x="1462115" y="1462115"/>
                </a:lnTo>
                <a:lnTo>
                  <a:pt x="0" y="14621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799413" y="9660214"/>
            <a:ext cx="252642" cy="44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21734" y="524664"/>
            <a:ext cx="6604000" cy="79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452"/>
              </a:lnSpc>
              <a:spcBef>
                <a:spcPct val="0"/>
              </a:spcBef>
            </a:pP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الفكرة و الحل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43571" y="1790963"/>
            <a:ext cx="14000857" cy="76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377"/>
              </a:lnSpc>
              <a:spcBef>
                <a:spcPct val="0"/>
              </a:spcBef>
            </a:pPr>
            <a:r>
              <a:rPr lang="ar-EG" b="true" sz="3841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تطبيق سند يلتقط الضغط في نصف دقيقة  فقط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053580" y="4618306"/>
            <a:ext cx="411440" cy="10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5"/>
              </a:lnSpc>
              <a:spcBef>
                <a:spcPct val="0"/>
              </a:spcBef>
            </a:pPr>
            <a:r>
              <a:rPr lang="en-US" b="true" sz="5275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79480" y="4618306"/>
            <a:ext cx="591100" cy="10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5"/>
              </a:lnSpc>
              <a:spcBef>
                <a:spcPct val="0"/>
              </a:spcBef>
            </a:pPr>
            <a:r>
              <a:rPr lang="en-US" b="true" sz="5275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25701" y="4618306"/>
            <a:ext cx="582364" cy="10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5"/>
              </a:lnSpc>
              <a:spcBef>
                <a:spcPct val="0"/>
              </a:spcBef>
            </a:pPr>
            <a:r>
              <a:rPr lang="en-US" b="true" sz="5275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67678" y="4618306"/>
            <a:ext cx="609153" cy="10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5"/>
              </a:lnSpc>
              <a:spcBef>
                <a:spcPct val="0"/>
              </a:spcBef>
            </a:pPr>
            <a:r>
              <a:rPr lang="en-US" b="true" sz="5275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44700" y="5638800"/>
            <a:ext cx="28829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00"/>
              </a:lnSpc>
              <a:spcBef>
                <a:spcPct val="0"/>
              </a:spcBef>
            </a:pPr>
            <a:r>
              <a:rPr lang="ar-EG" b="true" sz="3000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اكتب او احكي</a:t>
            </a:r>
          </a:p>
        </p:txBody>
      </p:sp>
      <p:sp>
        <p:nvSpPr>
          <p:cNvPr name="Freeform 28" id="28"/>
          <p:cNvSpPr/>
          <p:nvPr/>
        </p:nvSpPr>
        <p:spPr>
          <a:xfrm flipH="true" flipV="true" rot="-7290305">
            <a:off x="13134515" y="6414942"/>
            <a:ext cx="2069090" cy="1521483"/>
          </a:xfrm>
          <a:custGeom>
            <a:avLst/>
            <a:gdLst/>
            <a:ahLst/>
            <a:cxnLst/>
            <a:rect r="r" b="b" t="t" l="l"/>
            <a:pathLst>
              <a:path h="1521483" w="2069090">
                <a:moveTo>
                  <a:pt x="2069090" y="1521483"/>
                </a:moveTo>
                <a:lnTo>
                  <a:pt x="0" y="1521483"/>
                </a:lnTo>
                <a:lnTo>
                  <a:pt x="0" y="0"/>
                </a:lnTo>
                <a:lnTo>
                  <a:pt x="2069090" y="0"/>
                </a:lnTo>
                <a:lnTo>
                  <a:pt x="2069090" y="15214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3586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134600" y="5638800"/>
            <a:ext cx="28829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00"/>
              </a:lnSpc>
              <a:spcBef>
                <a:spcPct val="0"/>
              </a:spcBef>
            </a:pPr>
            <a:r>
              <a:rPr lang="ar-EG" b="true" sz="3000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يفهم ضغطك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08600" y="5638800"/>
            <a:ext cx="28829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00"/>
              </a:lnSpc>
              <a:spcBef>
                <a:spcPct val="0"/>
              </a:spcBef>
            </a:pPr>
            <a:r>
              <a:rPr lang="ar-EG" b="true" sz="3000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خطوة تناسبك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8500" y="5638800"/>
            <a:ext cx="28829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00"/>
              </a:lnSpc>
              <a:spcBef>
                <a:spcPct val="0"/>
              </a:spcBef>
            </a:pPr>
            <a:r>
              <a:rPr lang="ar-EG" b="true" sz="3000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نبض للجهات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43971" y="569138"/>
            <a:ext cx="5166900" cy="904857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66042" y="569138"/>
            <a:ext cx="5166900" cy="904857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854" y="569138"/>
            <a:ext cx="5166900" cy="9048576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4173200" y="4148013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799835" y="9660214"/>
            <a:ext cx="251797" cy="44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36866" y="230179"/>
            <a:ext cx="6051134" cy="79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452"/>
              </a:lnSpc>
              <a:spcBef>
                <a:spcPct val="0"/>
              </a:spcBef>
            </a:pP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التطبيق يعمل الأن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17239" y="9144000"/>
            <a:ext cx="1020366" cy="4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063"/>
              </a:lnSpc>
              <a:spcBef>
                <a:spcPct val="0"/>
              </a:spcBef>
            </a:pPr>
            <a:r>
              <a:rPr lang="ar-EG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يومي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6019" y="9144000"/>
            <a:ext cx="806946" cy="4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063"/>
              </a:lnSpc>
              <a:spcBef>
                <a:spcPct val="0"/>
              </a:spcBef>
            </a:pPr>
            <a:r>
              <a:rPr lang="ar-EG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دعم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91707" y="9144000"/>
            <a:ext cx="699195" cy="4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063"/>
              </a:lnSpc>
              <a:spcBef>
                <a:spcPct val="0"/>
              </a:spcBef>
            </a:pPr>
            <a:r>
              <a:rPr lang="ar-EG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نبض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8527" y="4532791"/>
            <a:ext cx="2735446" cy="202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66"/>
              </a:lnSpc>
              <a:spcBef>
                <a:spcPct val="0"/>
              </a:spcBef>
            </a:pPr>
            <a:r>
              <a:rPr lang="ar-EG" b="true" sz="2547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تطبيق أندرويد حقيقي، مرفوع على مسار الاختبار في </a:t>
            </a:r>
            <a:r>
              <a:rPr lang="en-US" b="true" sz="2547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Google Play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0.0000" end="2480.9460"/>
                </p14:media>
              </p:ext>
            </p:extLst>
          </p:nvPr>
        </p:nvPicPr>
        <p:blipFill>
          <a:blip r:embed="rId2"/>
          <a:srcRect l="2543" t="0" r="3358" b="0"/>
          <a:stretch>
            <a:fillRect/>
          </a:stretch>
        </p:blipFill>
        <p:spPr>
          <a:xfrm flipH="false" flipV="false" rot="0">
            <a:off x="1028700" y="128828"/>
            <a:ext cx="4033960" cy="964568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792770" y="9660214"/>
            <a:ext cx="265927" cy="44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6844" y="524664"/>
            <a:ext cx="10701156" cy="79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452"/>
              </a:lnSpc>
              <a:spcBef>
                <a:spcPct val="0"/>
              </a:spcBef>
            </a:pP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كيف يعمل التطبيق ( </a:t>
            </a:r>
            <a:r>
              <a:rPr lang="en-US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A live demo</a:t>
            </a: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)</a:t>
            </a:r>
          </a:p>
        </p:txBody>
      </p:sp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72517" y="3558111"/>
            <a:ext cx="6190398" cy="5225838"/>
            <a:chOff x="0" y="0"/>
            <a:chExt cx="1630393" cy="1376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0393" cy="1376352"/>
            </a:xfrm>
            <a:custGeom>
              <a:avLst/>
              <a:gdLst/>
              <a:ahLst/>
              <a:cxnLst/>
              <a:rect r="r" b="b" t="t" l="l"/>
              <a:pathLst>
                <a:path h="1376352" w="1630393">
                  <a:moveTo>
                    <a:pt x="63782" y="0"/>
                  </a:moveTo>
                  <a:lnTo>
                    <a:pt x="1566611" y="0"/>
                  </a:lnTo>
                  <a:cubicBezTo>
                    <a:pt x="1583527" y="0"/>
                    <a:pt x="1599750" y="6720"/>
                    <a:pt x="1611712" y="18681"/>
                  </a:cubicBezTo>
                  <a:cubicBezTo>
                    <a:pt x="1623673" y="30643"/>
                    <a:pt x="1630393" y="46866"/>
                    <a:pt x="1630393" y="63782"/>
                  </a:cubicBezTo>
                  <a:lnTo>
                    <a:pt x="1630393" y="1312570"/>
                  </a:lnTo>
                  <a:cubicBezTo>
                    <a:pt x="1630393" y="1329486"/>
                    <a:pt x="1623673" y="1345710"/>
                    <a:pt x="1611712" y="1357671"/>
                  </a:cubicBezTo>
                  <a:cubicBezTo>
                    <a:pt x="1599750" y="1369632"/>
                    <a:pt x="1583527" y="1376352"/>
                    <a:pt x="1566611" y="1376352"/>
                  </a:cubicBezTo>
                  <a:lnTo>
                    <a:pt x="63782" y="1376352"/>
                  </a:lnTo>
                  <a:cubicBezTo>
                    <a:pt x="46866" y="1376352"/>
                    <a:pt x="30643" y="1369632"/>
                    <a:pt x="18681" y="1357671"/>
                  </a:cubicBezTo>
                  <a:cubicBezTo>
                    <a:pt x="6720" y="1345710"/>
                    <a:pt x="0" y="1329486"/>
                    <a:pt x="0" y="1312570"/>
                  </a:cubicBezTo>
                  <a:lnTo>
                    <a:pt x="0" y="63782"/>
                  </a:lnTo>
                  <a:cubicBezTo>
                    <a:pt x="0" y="46866"/>
                    <a:pt x="6720" y="30643"/>
                    <a:pt x="18681" y="18681"/>
                  </a:cubicBezTo>
                  <a:cubicBezTo>
                    <a:pt x="30643" y="6720"/>
                    <a:pt x="46866" y="0"/>
                    <a:pt x="637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09575"/>
              <a:ext cx="1630393" cy="1785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883"/>
                </a:lnSpc>
              </a:pPr>
            </a:p>
            <a:p>
              <a:pPr algn="r" rtl="true" marL="753029" indent="-376514" lvl="1">
                <a:lnSpc>
                  <a:spcPts val="4883"/>
                </a:lnSpc>
                <a:buFont typeface="Arial"/>
                <a:buChar char="•"/>
              </a:pPr>
              <a:r>
                <a:rPr lang="ar-EG" sz="3487">
                  <a:solidFill>
                    <a:srgbClr val="000000"/>
                  </a:solidFill>
                  <a:latin typeface="Nazanin Light"/>
                  <a:ea typeface="Nazanin Light"/>
                  <a:cs typeface="Nazanin Light"/>
                  <a:sym typeface="Nazanin Light"/>
                  <a:rtl val="true"/>
                </a:rPr>
                <a:t>الاسم أو رقم الهاتف أو البريد‬​</a:t>
              </a:r>
            </a:p>
            <a:p>
              <a:pPr algn="r" rtl="true" marL="753029" indent="-376514" lvl="1">
                <a:lnSpc>
                  <a:spcPts val="4883"/>
                </a:lnSpc>
                <a:buFont typeface="Arial"/>
                <a:buChar char="•"/>
              </a:pPr>
              <a:r>
                <a:rPr lang="ar-EG" sz="3487">
                  <a:solidFill>
                    <a:srgbClr val="000000"/>
                  </a:solidFill>
                  <a:latin typeface="Nazanin Light"/>
                  <a:ea typeface="Nazanin Light"/>
                  <a:cs typeface="Nazanin Light"/>
                  <a:sym typeface="Nazanin Light"/>
                  <a:rtl val="true"/>
                </a:rPr>
                <a:t>‫الموقع الدقيق أو هوية الجهاز</a:t>
              </a:r>
            </a:p>
            <a:p>
              <a:pPr algn="r" rtl="true" marL="753029" indent="-376514" lvl="1">
                <a:lnSpc>
                  <a:spcPts val="4883"/>
                </a:lnSpc>
                <a:buFont typeface="Arial"/>
                <a:buChar char="•"/>
              </a:pPr>
              <a:r>
                <a:rPr lang="ar-EG" sz="3487">
                  <a:solidFill>
                    <a:srgbClr val="000000"/>
                  </a:solidFill>
                  <a:latin typeface="Nazanin Light"/>
                  <a:ea typeface="Nazanin Light"/>
                  <a:cs typeface="Nazanin Light"/>
                  <a:sym typeface="Nazanin Light"/>
                  <a:rtl val="true"/>
                </a:rPr>
                <a:t> ‫ما تكتبه أو تقوله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9633" y="3558111"/>
            <a:ext cx="6114042" cy="5225838"/>
            <a:chOff x="0" y="0"/>
            <a:chExt cx="1610283" cy="13763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10283" cy="1376352"/>
            </a:xfrm>
            <a:custGeom>
              <a:avLst/>
              <a:gdLst/>
              <a:ahLst/>
              <a:cxnLst/>
              <a:rect r="r" b="b" t="t" l="l"/>
              <a:pathLst>
                <a:path h="1376352" w="1610283">
                  <a:moveTo>
                    <a:pt x="64579" y="0"/>
                  </a:moveTo>
                  <a:lnTo>
                    <a:pt x="1545704" y="0"/>
                  </a:lnTo>
                  <a:cubicBezTo>
                    <a:pt x="1581370" y="0"/>
                    <a:pt x="1610283" y="28913"/>
                    <a:pt x="1610283" y="64579"/>
                  </a:cubicBezTo>
                  <a:lnTo>
                    <a:pt x="1610283" y="1311774"/>
                  </a:lnTo>
                  <a:cubicBezTo>
                    <a:pt x="1610283" y="1347439"/>
                    <a:pt x="1581370" y="1376352"/>
                    <a:pt x="1545704" y="1376352"/>
                  </a:cubicBezTo>
                  <a:lnTo>
                    <a:pt x="64579" y="1376352"/>
                  </a:lnTo>
                  <a:cubicBezTo>
                    <a:pt x="28913" y="1376352"/>
                    <a:pt x="0" y="1347439"/>
                    <a:pt x="0" y="1311774"/>
                  </a:cubicBezTo>
                  <a:lnTo>
                    <a:pt x="0" y="64579"/>
                  </a:lnTo>
                  <a:cubicBezTo>
                    <a:pt x="0" y="28913"/>
                    <a:pt x="28913" y="0"/>
                    <a:pt x="64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09575"/>
              <a:ext cx="1610283" cy="1785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883"/>
                </a:lnSpc>
              </a:pPr>
              <a:r>
                <a:rPr lang="en-US" sz="3487">
                  <a:solidFill>
                    <a:srgbClr val="000000"/>
                  </a:solidFill>
                  <a:latin typeface="Nazanin Light"/>
                  <a:ea typeface="Nazanin Light"/>
                  <a:cs typeface="Nazanin Light"/>
                  <a:sym typeface="Nazanin Light"/>
                </a:rPr>
                <a:t>‬​</a:t>
              </a:r>
            </a:p>
            <a:p>
              <a:pPr algn="r" rtl="true" marL="753029" indent="-376514" lvl="1">
                <a:lnSpc>
                  <a:spcPts val="4883"/>
                </a:lnSpc>
                <a:buFont typeface="Arial"/>
                <a:buChar char="•"/>
              </a:pPr>
              <a:r>
                <a:rPr lang="ar-EG" sz="3487">
                  <a:solidFill>
                    <a:srgbClr val="000000"/>
                  </a:solidFill>
                  <a:latin typeface="Nazanin Light"/>
                  <a:ea typeface="Nazanin Light"/>
                  <a:cs typeface="Nazanin Light"/>
                  <a:sym typeface="Nazanin Light"/>
                  <a:rtl val="true"/>
                </a:rPr>
                <a:t>‫التاريخ، بلا أي رابط بشخص</a:t>
              </a:r>
            </a:p>
            <a:p>
              <a:pPr algn="r" rtl="true" marL="753029" indent="-376514" lvl="1">
                <a:lnSpc>
                  <a:spcPts val="4883"/>
                </a:lnSpc>
                <a:buFont typeface="Arial"/>
                <a:buChar char="•"/>
              </a:pPr>
              <a:r>
                <a:rPr lang="ar-EG" sz="3487">
                  <a:solidFill>
                    <a:srgbClr val="000000"/>
                  </a:solidFill>
                  <a:latin typeface="Nazanin Light"/>
                  <a:ea typeface="Nazanin Light"/>
                  <a:cs typeface="Nazanin Light"/>
                  <a:sym typeface="Nazanin Light"/>
                  <a:rtl val="true"/>
                </a:rPr>
                <a:t> ‫الفئة والعمر والمدينة، إن اختارها</a:t>
              </a:r>
            </a:p>
            <a:p>
              <a:pPr algn="r" rtl="true" marL="753029" indent="-376514" lvl="1">
                <a:lnSpc>
                  <a:spcPts val="4883"/>
                </a:lnSpc>
                <a:buFont typeface="Arial"/>
                <a:buChar char="•"/>
              </a:pPr>
              <a:r>
                <a:rPr lang="ar-EG" sz="3487">
                  <a:solidFill>
                    <a:srgbClr val="000000"/>
                  </a:solidFill>
                  <a:latin typeface="Nazanin Light"/>
                  <a:ea typeface="Nazanin Light"/>
                  <a:cs typeface="Nazanin Light"/>
                  <a:sym typeface="Nazanin Light"/>
                  <a:rtl val="true"/>
                </a:rPr>
                <a:t>‬​مستوى الضغط ومصدره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736750" y="5376699"/>
            <a:ext cx="6814500" cy="6814500"/>
          </a:xfrm>
          <a:custGeom>
            <a:avLst/>
            <a:gdLst/>
            <a:ahLst/>
            <a:cxnLst/>
            <a:rect r="r" b="b" t="t" l="l"/>
            <a:pathLst>
              <a:path h="6814500" w="6814500">
                <a:moveTo>
                  <a:pt x="0" y="0"/>
                </a:moveTo>
                <a:lnTo>
                  <a:pt x="6814500" y="0"/>
                </a:lnTo>
                <a:lnTo>
                  <a:pt x="6814500" y="6814500"/>
                </a:lnTo>
                <a:lnTo>
                  <a:pt x="0" y="68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14810" y="9660214"/>
            <a:ext cx="221847" cy="44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48111" y="230179"/>
            <a:ext cx="6221497" cy="79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452"/>
              </a:lnSpc>
              <a:spcBef>
                <a:spcPct val="0"/>
              </a:spcBef>
            </a:pP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الخصوصية والأمان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60926" y="1617337"/>
            <a:ext cx="11366148" cy="72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98"/>
              </a:lnSpc>
              <a:spcBef>
                <a:spcPct val="0"/>
              </a:spcBef>
            </a:pPr>
            <a:r>
              <a:rPr lang="ar-EG" b="true" sz="3641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الشاب لن يكتب بصدق لتطبيق يعرف اسمه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66500" y="3942158"/>
            <a:ext cx="6007100" cy="88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300"/>
              </a:lnSpc>
              <a:spcBef>
                <a:spcPct val="0"/>
              </a:spcBef>
            </a:pPr>
            <a:r>
              <a:rPr lang="ar-EG" b="true" sz="3800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ما لا نجمعه ابدا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9000" y="3942158"/>
            <a:ext cx="5930900" cy="88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300"/>
              </a:lnSpc>
              <a:spcBef>
                <a:spcPct val="0"/>
              </a:spcBef>
            </a:pPr>
            <a:r>
              <a:rPr lang="ar-EG" b="true" sz="3800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ما نحفظه فقط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12252" y="2122499"/>
            <a:ext cx="11086646" cy="7538919"/>
          </a:xfrm>
          <a:custGeom>
            <a:avLst/>
            <a:gdLst/>
            <a:ahLst/>
            <a:cxnLst/>
            <a:rect r="r" b="b" t="t" l="l"/>
            <a:pathLst>
              <a:path h="7538919" w="11086646">
                <a:moveTo>
                  <a:pt x="0" y="0"/>
                </a:moveTo>
                <a:lnTo>
                  <a:pt x="11086646" y="0"/>
                </a:lnTo>
                <a:lnTo>
                  <a:pt x="11086646" y="7538919"/>
                </a:lnTo>
                <a:lnTo>
                  <a:pt x="0" y="7538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33387" y="6488532"/>
            <a:ext cx="3974572" cy="3616860"/>
          </a:xfrm>
          <a:custGeom>
            <a:avLst/>
            <a:gdLst/>
            <a:ahLst/>
            <a:cxnLst/>
            <a:rect r="r" b="b" t="t" l="l"/>
            <a:pathLst>
              <a:path h="3616860" w="3974572">
                <a:moveTo>
                  <a:pt x="3974571" y="0"/>
                </a:moveTo>
                <a:lnTo>
                  <a:pt x="0" y="0"/>
                </a:lnTo>
                <a:lnTo>
                  <a:pt x="0" y="3616860"/>
                </a:lnTo>
                <a:lnTo>
                  <a:pt x="3974571" y="3616860"/>
                </a:lnTo>
                <a:lnTo>
                  <a:pt x="3974571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07188" y="771525"/>
            <a:ext cx="4473625" cy="10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944"/>
              </a:lnSpc>
              <a:spcBef>
                <a:spcPct val="0"/>
              </a:spcBef>
            </a:pPr>
            <a:r>
              <a:rPr lang="ar-EG" b="true" sz="4960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نتائج الاختبار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96514" y="9660214"/>
            <a:ext cx="258439" cy="44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48111" y="230179"/>
            <a:ext cx="6221497" cy="79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452"/>
              </a:lnSpc>
              <a:spcBef>
                <a:spcPct val="0"/>
              </a:spcBef>
            </a:pP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الاثر و المستقبل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448888" y="3046476"/>
            <a:ext cx="8597147" cy="5250486"/>
            <a:chOff x="0" y="0"/>
            <a:chExt cx="11462863" cy="700064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340086" y="2426180"/>
              <a:ext cx="6694659" cy="886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3"/>
                </a:lnSpc>
                <a:spcBef>
                  <a:spcPct val="0"/>
                </a:spcBef>
              </a:pPr>
              <a:r>
                <a:rPr lang="ar-EG" sz="4002">
                  <a:solidFill>
                    <a:srgbClr val="000000"/>
                  </a:solidFill>
                  <a:latin typeface="HandMade"/>
                  <a:ea typeface="HandMade"/>
                  <a:cs typeface="HandMade"/>
                  <a:sym typeface="HandMade"/>
                  <a:rtl val="true"/>
                </a:rPr>
                <a:t>دقة تحديد مستوى الضغط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319803" y="1740380"/>
              <a:ext cx="2007109" cy="2070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81"/>
                </a:lnSpc>
                <a:spcBef>
                  <a:spcPct val="0"/>
                </a:spcBef>
              </a:pPr>
              <a:r>
                <a:rPr lang="en-US" b="true" sz="6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94%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340086" y="4020819"/>
              <a:ext cx="6694659" cy="886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3"/>
                </a:lnSpc>
                <a:spcBef>
                  <a:spcPct val="0"/>
                </a:spcBef>
              </a:pPr>
              <a:r>
                <a:rPr lang="ar-EG" sz="4002">
                  <a:solidFill>
                    <a:srgbClr val="000000"/>
                  </a:solidFill>
                  <a:latin typeface="HandMade"/>
                  <a:ea typeface="HandMade"/>
                  <a:cs typeface="HandMade"/>
                  <a:sym typeface="HandMade"/>
                  <a:rtl val="true"/>
                </a:rPr>
                <a:t>دقة تحديد مصدر الضغط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319803" y="3335019"/>
              <a:ext cx="2007109" cy="2070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81"/>
                </a:lnSpc>
                <a:spcBef>
                  <a:spcPct val="0"/>
                </a:spcBef>
              </a:pPr>
              <a:r>
                <a:rPr lang="en-US" b="true" sz="6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98%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135951" y="5615705"/>
              <a:ext cx="6694659" cy="886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5603"/>
                </a:lnSpc>
                <a:spcBef>
                  <a:spcPct val="0"/>
                </a:spcBef>
              </a:pPr>
              <a:r>
                <a:rPr lang="ar-EG" sz="4002">
                  <a:solidFill>
                    <a:srgbClr val="000000"/>
                  </a:solidFill>
                  <a:latin typeface="HandMade"/>
                  <a:ea typeface="HandMade"/>
                  <a:cs typeface="HandMade"/>
                  <a:sym typeface="HandMade"/>
                  <a:rtl val="true"/>
                </a:rPr>
                <a:t>حالة خطر مكتشفة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830610" y="4929905"/>
              <a:ext cx="2496302" cy="2070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81"/>
                </a:lnSpc>
                <a:spcBef>
                  <a:spcPct val="0"/>
                </a:spcBef>
              </a:pPr>
              <a:r>
                <a:rPr lang="en-US" b="true" sz="6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11\11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11462863" cy="1599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4883"/>
                </a:lnSpc>
                <a:spcBef>
                  <a:spcPct val="0"/>
                </a:spcBef>
              </a:pPr>
              <a:r>
                <a:rPr lang="ar-EG" sz="3487">
                  <a:solidFill>
                    <a:srgbClr val="000000"/>
                  </a:solidFill>
                  <a:latin typeface="HandMade"/>
                  <a:ea typeface="HandMade"/>
                  <a:cs typeface="HandMade"/>
                  <a:sym typeface="HandMade"/>
                  <a:rtl val="true"/>
                </a:rPr>
                <a:t> قمنا بتدريب  الفريق على </a:t>
              </a:r>
              <a:r>
                <a:rPr lang="en-US" sz="3487">
                  <a:solidFill>
                    <a:srgbClr val="000000"/>
                  </a:solidFill>
                  <a:latin typeface="HandMade"/>
                  <a:ea typeface="HandMade"/>
                  <a:cs typeface="HandMade"/>
                  <a:sym typeface="HandMade"/>
                </a:rPr>
                <a:t>64</a:t>
              </a:r>
              <a:r>
                <a:rPr lang="ar-EG" sz="3487">
                  <a:solidFill>
                    <a:srgbClr val="000000"/>
                  </a:solidFill>
                  <a:latin typeface="HandMade"/>
                  <a:ea typeface="HandMade"/>
                  <a:cs typeface="HandMade"/>
                  <a:sym typeface="HandMade"/>
                  <a:rtl val="true"/>
                </a:rPr>
                <a:t> جملة باللهجة الليبية لفئات شبابية مختلفة واتضح الاتي :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54213" y="6633348"/>
            <a:ext cx="3332920" cy="2228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7"/>
              </a:lnSpc>
              <a:spcBef>
                <a:spcPct val="0"/>
              </a:spcBef>
            </a:pPr>
            <a:r>
              <a:rPr lang="ar-EG" b="true" sz="2805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مع العلم بعدم وجود تشخيص طبي إطلاقاً: حيث سند يوجّه ويدعم،</a:t>
            </a:r>
            <a:r>
              <a:rPr lang="ar-EG" b="true" sz="2805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ولا يغني عن المختص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1498" y="550377"/>
            <a:ext cx="5147556" cy="9014699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6186582" y="2956617"/>
            <a:ext cx="9189746" cy="6301683"/>
            <a:chOff x="0" y="0"/>
            <a:chExt cx="2420345" cy="16597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20345" cy="1659703"/>
            </a:xfrm>
            <a:custGeom>
              <a:avLst/>
              <a:gdLst/>
              <a:ahLst/>
              <a:cxnLst/>
              <a:rect r="r" b="b" t="t" l="l"/>
              <a:pathLst>
                <a:path h="1659703" w="2420345">
                  <a:moveTo>
                    <a:pt x="42965" y="0"/>
                  </a:moveTo>
                  <a:lnTo>
                    <a:pt x="2377379" y="0"/>
                  </a:lnTo>
                  <a:cubicBezTo>
                    <a:pt x="2388775" y="0"/>
                    <a:pt x="2399703" y="4527"/>
                    <a:pt x="2407760" y="12584"/>
                  </a:cubicBezTo>
                  <a:cubicBezTo>
                    <a:pt x="2415818" y="20642"/>
                    <a:pt x="2420345" y="31570"/>
                    <a:pt x="2420345" y="42965"/>
                  </a:cubicBezTo>
                  <a:lnTo>
                    <a:pt x="2420345" y="1616738"/>
                  </a:lnTo>
                  <a:cubicBezTo>
                    <a:pt x="2420345" y="1628133"/>
                    <a:pt x="2415818" y="1639061"/>
                    <a:pt x="2407760" y="1647118"/>
                  </a:cubicBezTo>
                  <a:cubicBezTo>
                    <a:pt x="2399703" y="1655176"/>
                    <a:pt x="2388775" y="1659703"/>
                    <a:pt x="2377379" y="1659703"/>
                  </a:cubicBezTo>
                  <a:lnTo>
                    <a:pt x="42965" y="1659703"/>
                  </a:lnTo>
                  <a:cubicBezTo>
                    <a:pt x="31570" y="1659703"/>
                    <a:pt x="20642" y="1655176"/>
                    <a:pt x="12584" y="1647118"/>
                  </a:cubicBezTo>
                  <a:cubicBezTo>
                    <a:pt x="4527" y="1639061"/>
                    <a:pt x="0" y="1628133"/>
                    <a:pt x="0" y="1616738"/>
                  </a:cubicBezTo>
                  <a:lnTo>
                    <a:pt x="0" y="42965"/>
                  </a:lnTo>
                  <a:cubicBezTo>
                    <a:pt x="0" y="31570"/>
                    <a:pt x="4527" y="20642"/>
                    <a:pt x="12584" y="12584"/>
                  </a:cubicBezTo>
                  <a:cubicBezTo>
                    <a:pt x="20642" y="4527"/>
                    <a:pt x="31570" y="0"/>
                    <a:pt x="429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09575"/>
              <a:ext cx="2420345" cy="2069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rtl="true">
                <a:lnSpc>
                  <a:spcPts val="4883"/>
                </a:lnSpc>
              </a:pPr>
            </a:p>
            <a:p>
              <a:pPr algn="l" marL="753029" indent="-376514" lvl="1">
                <a:lnSpc>
                  <a:spcPts val="4883"/>
                </a:lnSpc>
                <a:buFont typeface="Arial"/>
                <a:buChar char="•"/>
              </a:pPr>
              <a:r>
                <a:rPr lang="en-US" b="true" sz="3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 </a:t>
              </a:r>
              <a:r>
                <a:rPr lang="ar-EG" b="true" sz="3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‫إنذار مبكر عندما يرتفع الضغط في آخر أسبوعين</a:t>
              </a:r>
            </a:p>
            <a:p>
              <a:pPr algn="l">
                <a:lnSpc>
                  <a:spcPts val="4883"/>
                </a:lnSpc>
              </a:pPr>
              <a:r>
                <a:rPr lang="en-US" sz="3487" b="true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‬​</a:t>
              </a:r>
            </a:p>
            <a:p>
              <a:pPr algn="l" marL="753029" indent="-376514" lvl="1">
                <a:lnSpc>
                  <a:spcPts val="4883"/>
                </a:lnSpc>
                <a:buFont typeface="Arial"/>
                <a:buChar char="•"/>
              </a:pPr>
              <a:r>
                <a:rPr lang="en-US" b="true" sz="3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 </a:t>
              </a:r>
              <a:r>
                <a:rPr lang="ar-EG" b="true" sz="3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‫لا تُعرض أي مجموعة أقل من </a:t>
              </a:r>
              <a:r>
                <a:rPr lang="en-US" b="true" sz="3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10</a:t>
              </a:r>
              <a:r>
                <a:rPr lang="ar-EG" b="true" sz="3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 أشخاص</a:t>
              </a:r>
            </a:p>
            <a:p>
              <a:pPr algn="l">
                <a:lnSpc>
                  <a:spcPts val="4883"/>
                </a:lnSpc>
              </a:pPr>
              <a:r>
                <a:rPr lang="en-US" sz="3487" b="true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‬​</a:t>
              </a:r>
            </a:p>
            <a:p>
              <a:pPr algn="l" marL="753029" indent="-376514" lvl="1">
                <a:lnSpc>
                  <a:spcPts val="4883"/>
                </a:lnSpc>
                <a:buFont typeface="Arial"/>
                <a:buChar char="•"/>
              </a:pPr>
              <a:r>
                <a:rPr lang="en-US" b="true" sz="3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 </a:t>
              </a:r>
              <a:r>
                <a:rPr lang="ar-EG" b="true" sz="3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‫كل جهة بحساب خاص، وترى نطاقها فقط</a:t>
              </a:r>
            </a:p>
            <a:p>
              <a:pPr algn="l">
                <a:lnSpc>
                  <a:spcPts val="4883"/>
                </a:lnSpc>
              </a:pPr>
              <a:r>
                <a:rPr lang="en-US" sz="3487" b="true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‬​</a:t>
              </a:r>
            </a:p>
            <a:p>
              <a:pPr algn="l" marL="753029" indent="-376514" lvl="1">
                <a:lnSpc>
                  <a:spcPts val="4883"/>
                </a:lnSpc>
                <a:buFont typeface="Arial"/>
                <a:buChar char="•"/>
              </a:pPr>
              <a:r>
                <a:rPr lang="en-US" b="true" sz="3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 </a:t>
              </a:r>
              <a:r>
                <a:rPr lang="ar-EG" b="true" sz="3487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‫نسبة الضغط المرتفع ومصادره حسب الفئة والمدينة والجامعة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41583" y="9105900"/>
            <a:ext cx="3007388" cy="58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77"/>
              </a:lnSpc>
              <a:spcBef>
                <a:spcPct val="0"/>
              </a:spcBef>
            </a:pPr>
            <a:r>
              <a:rPr lang="ar-EG" b="true" sz="2841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شاشة نبض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88846" y="9660214"/>
            <a:ext cx="273776" cy="44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48111" y="230179"/>
            <a:ext cx="6221497" cy="79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452"/>
              </a:lnSpc>
              <a:spcBef>
                <a:spcPct val="0"/>
              </a:spcBef>
            </a:pP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الأثر و المستقبل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86582" y="1401008"/>
            <a:ext cx="9172277" cy="79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600"/>
              </a:lnSpc>
              <a:spcBef>
                <a:spcPct val="0"/>
              </a:spcBef>
            </a:pPr>
            <a:r>
              <a:rPr lang="ar-EG" b="true" sz="3300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الجامعة ترى المجموعة، لا الفرد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38638">
            <a:off x="-4181197" y="1342475"/>
            <a:ext cx="11395887" cy="9729173"/>
          </a:xfrm>
          <a:custGeom>
            <a:avLst/>
            <a:gdLst/>
            <a:ahLst/>
            <a:cxnLst/>
            <a:rect r="r" b="b" t="t" l="l"/>
            <a:pathLst>
              <a:path h="9729173" w="11395887">
                <a:moveTo>
                  <a:pt x="0" y="0"/>
                </a:moveTo>
                <a:lnTo>
                  <a:pt x="11395887" y="0"/>
                </a:lnTo>
                <a:lnTo>
                  <a:pt x="11395887" y="9729173"/>
                </a:lnTo>
                <a:lnTo>
                  <a:pt x="0" y="9729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344" t="0" r="-2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19342" y="2589705"/>
            <a:ext cx="3509852" cy="3358512"/>
            <a:chOff x="0" y="0"/>
            <a:chExt cx="924405" cy="8845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4405" cy="884546"/>
            </a:xfrm>
            <a:custGeom>
              <a:avLst/>
              <a:gdLst/>
              <a:ahLst/>
              <a:cxnLst/>
              <a:rect r="r" b="b" t="t" l="l"/>
              <a:pathLst>
                <a:path h="884546" w="924405">
                  <a:moveTo>
                    <a:pt x="112494" y="0"/>
                  </a:moveTo>
                  <a:lnTo>
                    <a:pt x="811911" y="0"/>
                  </a:lnTo>
                  <a:cubicBezTo>
                    <a:pt x="841746" y="0"/>
                    <a:pt x="870360" y="11852"/>
                    <a:pt x="891457" y="32949"/>
                  </a:cubicBezTo>
                  <a:cubicBezTo>
                    <a:pt x="912553" y="54046"/>
                    <a:pt x="924405" y="82659"/>
                    <a:pt x="924405" y="112494"/>
                  </a:cubicBezTo>
                  <a:lnTo>
                    <a:pt x="924405" y="772052"/>
                  </a:lnTo>
                  <a:cubicBezTo>
                    <a:pt x="924405" y="834181"/>
                    <a:pt x="874040" y="884546"/>
                    <a:pt x="811911" y="884546"/>
                  </a:cubicBezTo>
                  <a:lnTo>
                    <a:pt x="112494" y="884546"/>
                  </a:lnTo>
                  <a:cubicBezTo>
                    <a:pt x="50365" y="884546"/>
                    <a:pt x="0" y="834181"/>
                    <a:pt x="0" y="772052"/>
                  </a:cubicBezTo>
                  <a:lnTo>
                    <a:pt x="0" y="112494"/>
                  </a:lnTo>
                  <a:cubicBezTo>
                    <a:pt x="0" y="50365"/>
                    <a:pt x="50365" y="0"/>
                    <a:pt x="1124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924405" cy="99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02741" y="2590765"/>
            <a:ext cx="3509852" cy="3358512"/>
            <a:chOff x="0" y="0"/>
            <a:chExt cx="924405" cy="8845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4405" cy="884546"/>
            </a:xfrm>
            <a:custGeom>
              <a:avLst/>
              <a:gdLst/>
              <a:ahLst/>
              <a:cxnLst/>
              <a:rect r="r" b="b" t="t" l="l"/>
              <a:pathLst>
                <a:path h="884546" w="924405">
                  <a:moveTo>
                    <a:pt x="112494" y="0"/>
                  </a:moveTo>
                  <a:lnTo>
                    <a:pt x="811911" y="0"/>
                  </a:lnTo>
                  <a:cubicBezTo>
                    <a:pt x="841746" y="0"/>
                    <a:pt x="870360" y="11852"/>
                    <a:pt x="891457" y="32949"/>
                  </a:cubicBezTo>
                  <a:cubicBezTo>
                    <a:pt x="912553" y="54046"/>
                    <a:pt x="924405" y="82659"/>
                    <a:pt x="924405" y="112494"/>
                  </a:cubicBezTo>
                  <a:lnTo>
                    <a:pt x="924405" y="772052"/>
                  </a:lnTo>
                  <a:cubicBezTo>
                    <a:pt x="924405" y="834181"/>
                    <a:pt x="874040" y="884546"/>
                    <a:pt x="811911" y="884546"/>
                  </a:cubicBezTo>
                  <a:lnTo>
                    <a:pt x="112494" y="884546"/>
                  </a:lnTo>
                  <a:cubicBezTo>
                    <a:pt x="50365" y="884546"/>
                    <a:pt x="0" y="834181"/>
                    <a:pt x="0" y="772052"/>
                  </a:cubicBezTo>
                  <a:lnTo>
                    <a:pt x="0" y="112494"/>
                  </a:lnTo>
                  <a:cubicBezTo>
                    <a:pt x="0" y="50365"/>
                    <a:pt x="50365" y="0"/>
                    <a:pt x="1124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924405" cy="99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19342" y="6343564"/>
            <a:ext cx="3509852" cy="3358512"/>
            <a:chOff x="0" y="0"/>
            <a:chExt cx="924405" cy="8845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4405" cy="884546"/>
            </a:xfrm>
            <a:custGeom>
              <a:avLst/>
              <a:gdLst/>
              <a:ahLst/>
              <a:cxnLst/>
              <a:rect r="r" b="b" t="t" l="l"/>
              <a:pathLst>
                <a:path h="884546" w="924405">
                  <a:moveTo>
                    <a:pt x="112494" y="0"/>
                  </a:moveTo>
                  <a:lnTo>
                    <a:pt x="811911" y="0"/>
                  </a:lnTo>
                  <a:cubicBezTo>
                    <a:pt x="841746" y="0"/>
                    <a:pt x="870360" y="11852"/>
                    <a:pt x="891457" y="32949"/>
                  </a:cubicBezTo>
                  <a:cubicBezTo>
                    <a:pt x="912553" y="54046"/>
                    <a:pt x="924405" y="82659"/>
                    <a:pt x="924405" y="112494"/>
                  </a:cubicBezTo>
                  <a:lnTo>
                    <a:pt x="924405" y="772052"/>
                  </a:lnTo>
                  <a:cubicBezTo>
                    <a:pt x="924405" y="834181"/>
                    <a:pt x="874040" y="884546"/>
                    <a:pt x="811911" y="884546"/>
                  </a:cubicBezTo>
                  <a:lnTo>
                    <a:pt x="112494" y="884546"/>
                  </a:lnTo>
                  <a:cubicBezTo>
                    <a:pt x="50365" y="884546"/>
                    <a:pt x="0" y="834181"/>
                    <a:pt x="0" y="772052"/>
                  </a:cubicBezTo>
                  <a:lnTo>
                    <a:pt x="0" y="112494"/>
                  </a:lnTo>
                  <a:cubicBezTo>
                    <a:pt x="0" y="50365"/>
                    <a:pt x="50365" y="0"/>
                    <a:pt x="1124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924405" cy="99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02741" y="6416002"/>
            <a:ext cx="3509852" cy="3358512"/>
            <a:chOff x="0" y="0"/>
            <a:chExt cx="924405" cy="8845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4405" cy="884546"/>
            </a:xfrm>
            <a:custGeom>
              <a:avLst/>
              <a:gdLst/>
              <a:ahLst/>
              <a:cxnLst/>
              <a:rect r="r" b="b" t="t" l="l"/>
              <a:pathLst>
                <a:path h="884546" w="924405">
                  <a:moveTo>
                    <a:pt x="112494" y="0"/>
                  </a:moveTo>
                  <a:lnTo>
                    <a:pt x="811911" y="0"/>
                  </a:lnTo>
                  <a:cubicBezTo>
                    <a:pt x="841746" y="0"/>
                    <a:pt x="870360" y="11852"/>
                    <a:pt x="891457" y="32949"/>
                  </a:cubicBezTo>
                  <a:cubicBezTo>
                    <a:pt x="912553" y="54046"/>
                    <a:pt x="924405" y="82659"/>
                    <a:pt x="924405" y="112494"/>
                  </a:cubicBezTo>
                  <a:lnTo>
                    <a:pt x="924405" y="772052"/>
                  </a:lnTo>
                  <a:cubicBezTo>
                    <a:pt x="924405" y="834181"/>
                    <a:pt x="874040" y="884546"/>
                    <a:pt x="811911" y="884546"/>
                  </a:cubicBezTo>
                  <a:lnTo>
                    <a:pt x="112494" y="884546"/>
                  </a:lnTo>
                  <a:cubicBezTo>
                    <a:pt x="50365" y="884546"/>
                    <a:pt x="0" y="834181"/>
                    <a:pt x="0" y="772052"/>
                  </a:cubicBezTo>
                  <a:lnTo>
                    <a:pt x="0" y="112494"/>
                  </a:lnTo>
                  <a:cubicBezTo>
                    <a:pt x="0" y="50365"/>
                    <a:pt x="50365" y="0"/>
                    <a:pt x="1124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924405" cy="99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703706" y="9660214"/>
            <a:ext cx="444056" cy="44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48111" y="230179"/>
            <a:ext cx="6221497" cy="79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452"/>
              </a:lnSpc>
              <a:spcBef>
                <a:spcPct val="0"/>
              </a:spcBef>
            </a:pP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الأثر و المستقبل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61978" y="1326550"/>
            <a:ext cx="4795689" cy="79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452"/>
              </a:lnSpc>
              <a:spcBef>
                <a:spcPct val="0"/>
              </a:spcBef>
            </a:pP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الخطوة القادمة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05866" y="3176853"/>
            <a:ext cx="2103602" cy="189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94"/>
              </a:lnSpc>
              <a:spcBef>
                <a:spcPct val="0"/>
              </a:spcBef>
            </a:pPr>
            <a:r>
              <a:rPr lang="ar-EG" b="true" sz="3424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التجربة مع جامعة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28570" y="2895642"/>
            <a:ext cx="2466817" cy="249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94"/>
              </a:lnSpc>
              <a:spcBef>
                <a:spcPct val="0"/>
              </a:spcBef>
            </a:pPr>
            <a:r>
              <a:rPr lang="ar-EG" b="true" sz="3424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نشر عام على </a:t>
            </a:r>
            <a:r>
              <a:rPr lang="en-US" b="true" sz="3424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google play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2924" y="7057666"/>
            <a:ext cx="2103602" cy="189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94"/>
              </a:lnSpc>
              <a:spcBef>
                <a:spcPct val="0"/>
              </a:spcBef>
            </a:pPr>
            <a:r>
              <a:rPr lang="ar-EG" b="true" sz="3424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نبض على الويب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19373" y="7057666"/>
            <a:ext cx="2376013" cy="129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94"/>
              </a:lnSpc>
              <a:spcBef>
                <a:spcPct val="0"/>
              </a:spcBef>
            </a:pPr>
            <a:r>
              <a:rPr lang="ar-EG" b="true" sz="3424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تواصل بموافقة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1108" y="2132454"/>
            <a:ext cx="13861496" cy="3751995"/>
            <a:chOff x="0" y="0"/>
            <a:chExt cx="3650764" cy="9881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0764" cy="988180"/>
            </a:xfrm>
            <a:custGeom>
              <a:avLst/>
              <a:gdLst/>
              <a:ahLst/>
              <a:cxnLst/>
              <a:rect r="r" b="b" t="t" l="l"/>
              <a:pathLst>
                <a:path h="988180" w="3650764">
                  <a:moveTo>
                    <a:pt x="28485" y="0"/>
                  </a:moveTo>
                  <a:lnTo>
                    <a:pt x="3622280" y="0"/>
                  </a:lnTo>
                  <a:cubicBezTo>
                    <a:pt x="3638011" y="0"/>
                    <a:pt x="3650764" y="12753"/>
                    <a:pt x="3650764" y="28485"/>
                  </a:cubicBezTo>
                  <a:lnTo>
                    <a:pt x="3650764" y="959695"/>
                  </a:lnTo>
                  <a:cubicBezTo>
                    <a:pt x="3650764" y="975427"/>
                    <a:pt x="3638011" y="988180"/>
                    <a:pt x="3622280" y="988180"/>
                  </a:cubicBezTo>
                  <a:lnTo>
                    <a:pt x="28485" y="988180"/>
                  </a:lnTo>
                  <a:cubicBezTo>
                    <a:pt x="12753" y="988180"/>
                    <a:pt x="0" y="975427"/>
                    <a:pt x="0" y="959695"/>
                  </a:cubicBezTo>
                  <a:lnTo>
                    <a:pt x="0" y="28485"/>
                  </a:lnTo>
                  <a:cubicBezTo>
                    <a:pt x="0" y="12753"/>
                    <a:pt x="12753" y="0"/>
                    <a:pt x="284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3650764" cy="1102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54787">
            <a:off x="6825193" y="3077921"/>
            <a:ext cx="1221722" cy="1615927"/>
          </a:xfrm>
          <a:custGeom>
            <a:avLst/>
            <a:gdLst/>
            <a:ahLst/>
            <a:cxnLst/>
            <a:rect r="r" b="b" t="t" l="l"/>
            <a:pathLst>
              <a:path h="1615927" w="1221722">
                <a:moveTo>
                  <a:pt x="70471" y="0"/>
                </a:moveTo>
                <a:lnTo>
                  <a:pt x="1221723" y="51871"/>
                </a:lnTo>
                <a:lnTo>
                  <a:pt x="1151252" y="1615927"/>
                </a:lnTo>
                <a:lnTo>
                  <a:pt x="0" y="1564056"/>
                </a:lnTo>
                <a:lnTo>
                  <a:pt x="70471" y="0"/>
                </a:lnTo>
                <a:close/>
              </a:path>
            </a:pathLst>
          </a:custGeom>
          <a:blipFill>
            <a:blip r:embed="rId2"/>
            <a:stretch>
              <a:fillRect l="0" t="-97575" r="-301485" b="-10596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239" y="2492605"/>
            <a:ext cx="1139521" cy="1220916"/>
          </a:xfrm>
          <a:custGeom>
            <a:avLst/>
            <a:gdLst/>
            <a:ahLst/>
            <a:cxnLst/>
            <a:rect r="r" b="b" t="t" l="l"/>
            <a:pathLst>
              <a:path h="1220916" w="1139521">
                <a:moveTo>
                  <a:pt x="0" y="0"/>
                </a:moveTo>
                <a:lnTo>
                  <a:pt x="1139522" y="0"/>
                </a:lnTo>
                <a:lnTo>
                  <a:pt x="1139522" y="1220916"/>
                </a:lnTo>
                <a:lnTo>
                  <a:pt x="0" y="1220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584" t="-101299" r="-339133" b="-9728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98270" y="4144820"/>
            <a:ext cx="1052389" cy="1425042"/>
          </a:xfrm>
          <a:custGeom>
            <a:avLst/>
            <a:gdLst/>
            <a:ahLst/>
            <a:cxnLst/>
            <a:rect r="r" b="b" t="t" l="l"/>
            <a:pathLst>
              <a:path h="1425042" w="1052389">
                <a:moveTo>
                  <a:pt x="0" y="0"/>
                </a:moveTo>
                <a:lnTo>
                  <a:pt x="1052389" y="0"/>
                </a:lnTo>
                <a:lnTo>
                  <a:pt x="1052389" y="1425042"/>
                </a:lnTo>
                <a:lnTo>
                  <a:pt x="0" y="1425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0512" r="-274628" b="-8614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40532" y="2294916"/>
            <a:ext cx="820253" cy="1029337"/>
          </a:xfrm>
          <a:custGeom>
            <a:avLst/>
            <a:gdLst/>
            <a:ahLst/>
            <a:cxnLst/>
            <a:rect r="r" b="b" t="t" l="l"/>
            <a:pathLst>
              <a:path h="1029337" w="820253">
                <a:moveTo>
                  <a:pt x="0" y="0"/>
                </a:moveTo>
                <a:lnTo>
                  <a:pt x="820253" y="0"/>
                </a:lnTo>
                <a:lnTo>
                  <a:pt x="820253" y="1029337"/>
                </a:lnTo>
                <a:lnTo>
                  <a:pt x="0" y="10293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53038" y="9660214"/>
            <a:ext cx="345391" cy="44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  <a:spcBef>
                <a:spcPct val="0"/>
              </a:spcBef>
            </a:pPr>
            <a:r>
              <a:rPr lang="en-US" b="true" sz="2187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95734" y="525710"/>
            <a:ext cx="11430000" cy="79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452"/>
              </a:lnSpc>
              <a:spcBef>
                <a:spcPct val="0"/>
              </a:spcBef>
            </a:pPr>
            <a:r>
              <a:rPr lang="ar-EG" b="true" sz="3894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التقنيات المستخدمة و الادوار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71013" y="2455746"/>
            <a:ext cx="3117094" cy="7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1"/>
              </a:lnSpc>
              <a:spcBef>
                <a:spcPct val="0"/>
              </a:spcBef>
            </a:pPr>
            <a:r>
              <a:rPr lang="en-US" b="true" sz="3965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Firestore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20149" y="3209041"/>
            <a:ext cx="2277057" cy="7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1"/>
              </a:lnSpc>
              <a:spcBef>
                <a:spcPct val="0"/>
              </a:spcBef>
            </a:pPr>
            <a:r>
              <a:rPr lang="en-US" b="true" sz="3965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Gemini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20149" y="4093831"/>
            <a:ext cx="2375790" cy="7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1"/>
              </a:lnSpc>
              <a:spcBef>
                <a:spcPct val="0"/>
              </a:spcBef>
            </a:pPr>
            <a:r>
              <a:rPr lang="en-US" b="true" sz="3965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Flutter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75736" y="2455746"/>
            <a:ext cx="3859208" cy="7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1"/>
              </a:lnSpc>
              <a:spcBef>
                <a:spcPct val="0"/>
              </a:spcBef>
            </a:pPr>
            <a:r>
              <a:rPr lang="en-US" b="true" sz="3965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Google play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15959" y="3209041"/>
            <a:ext cx="3427320" cy="7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1"/>
              </a:lnSpc>
              <a:spcBef>
                <a:spcPct val="0"/>
              </a:spcBef>
            </a:pPr>
            <a:r>
              <a:rPr lang="en-US" b="true" sz="3965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App check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12264" y="4057930"/>
            <a:ext cx="7526616" cy="7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1"/>
              </a:lnSpc>
              <a:spcBef>
                <a:spcPct val="0"/>
              </a:spcBef>
            </a:pPr>
            <a:r>
              <a:rPr lang="en-US" b="true" sz="3965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</a:rPr>
              <a:t>without private server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651000" y="6692900"/>
            <a:ext cx="2258452" cy="3199545"/>
            <a:chOff x="0" y="0"/>
            <a:chExt cx="594819" cy="84267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4819" cy="842679"/>
            </a:xfrm>
            <a:custGeom>
              <a:avLst/>
              <a:gdLst/>
              <a:ahLst/>
              <a:cxnLst/>
              <a:rect r="r" b="b" t="t" l="l"/>
              <a:pathLst>
                <a:path h="842679" w="594819">
                  <a:moveTo>
                    <a:pt x="174827" y="0"/>
                  </a:moveTo>
                  <a:lnTo>
                    <a:pt x="419992" y="0"/>
                  </a:lnTo>
                  <a:cubicBezTo>
                    <a:pt x="466359" y="0"/>
                    <a:pt x="510827" y="18419"/>
                    <a:pt x="543613" y="51206"/>
                  </a:cubicBezTo>
                  <a:cubicBezTo>
                    <a:pt x="576399" y="83992"/>
                    <a:pt x="594819" y="128460"/>
                    <a:pt x="594819" y="174827"/>
                  </a:cubicBezTo>
                  <a:lnTo>
                    <a:pt x="594819" y="667852"/>
                  </a:lnTo>
                  <a:cubicBezTo>
                    <a:pt x="594819" y="764406"/>
                    <a:pt x="516546" y="842679"/>
                    <a:pt x="419992" y="842679"/>
                  </a:cubicBezTo>
                  <a:lnTo>
                    <a:pt x="174827" y="842679"/>
                  </a:lnTo>
                  <a:cubicBezTo>
                    <a:pt x="78273" y="842679"/>
                    <a:pt x="0" y="764406"/>
                    <a:pt x="0" y="667852"/>
                  </a:cubicBezTo>
                  <a:lnTo>
                    <a:pt x="0" y="174827"/>
                  </a:lnTo>
                  <a:cubicBezTo>
                    <a:pt x="0" y="78273"/>
                    <a:pt x="78273" y="0"/>
                    <a:pt x="1748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252803"/>
              <a:ext cx="594819" cy="55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3700"/>
                </a:lnSpc>
              </a:pPr>
              <a:r>
                <a:rPr lang="ar-EG" b="true" sz="2700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اختبار التطبيق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241800" y="6692900"/>
            <a:ext cx="2258452" cy="3199545"/>
            <a:chOff x="0" y="0"/>
            <a:chExt cx="594819" cy="8426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819" cy="842679"/>
            </a:xfrm>
            <a:custGeom>
              <a:avLst/>
              <a:gdLst/>
              <a:ahLst/>
              <a:cxnLst/>
              <a:rect r="r" b="b" t="t" l="l"/>
              <a:pathLst>
                <a:path h="842679" w="594819">
                  <a:moveTo>
                    <a:pt x="174827" y="0"/>
                  </a:moveTo>
                  <a:lnTo>
                    <a:pt x="419992" y="0"/>
                  </a:lnTo>
                  <a:cubicBezTo>
                    <a:pt x="466359" y="0"/>
                    <a:pt x="510827" y="18419"/>
                    <a:pt x="543613" y="51206"/>
                  </a:cubicBezTo>
                  <a:cubicBezTo>
                    <a:pt x="576399" y="83992"/>
                    <a:pt x="594819" y="128460"/>
                    <a:pt x="594819" y="174827"/>
                  </a:cubicBezTo>
                  <a:lnTo>
                    <a:pt x="594819" y="667852"/>
                  </a:lnTo>
                  <a:cubicBezTo>
                    <a:pt x="594819" y="764406"/>
                    <a:pt x="516546" y="842679"/>
                    <a:pt x="419992" y="842679"/>
                  </a:cubicBezTo>
                  <a:lnTo>
                    <a:pt x="174827" y="842679"/>
                  </a:lnTo>
                  <a:cubicBezTo>
                    <a:pt x="78273" y="842679"/>
                    <a:pt x="0" y="764406"/>
                    <a:pt x="0" y="667852"/>
                  </a:cubicBezTo>
                  <a:lnTo>
                    <a:pt x="0" y="174827"/>
                  </a:lnTo>
                  <a:cubicBezTo>
                    <a:pt x="0" y="78273"/>
                    <a:pt x="78273" y="0"/>
                    <a:pt x="1748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52803"/>
              <a:ext cx="594819" cy="55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3700"/>
                </a:lnSpc>
              </a:pPr>
              <a:r>
                <a:rPr lang="ar-EG" b="true" sz="2700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المحتوى و الأمان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32600" y="6692900"/>
            <a:ext cx="2258452" cy="3245879"/>
            <a:chOff x="0" y="0"/>
            <a:chExt cx="594819" cy="8548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4819" cy="854882"/>
            </a:xfrm>
            <a:custGeom>
              <a:avLst/>
              <a:gdLst/>
              <a:ahLst/>
              <a:cxnLst/>
              <a:rect r="r" b="b" t="t" l="l"/>
              <a:pathLst>
                <a:path h="854882" w="594819">
                  <a:moveTo>
                    <a:pt x="174827" y="0"/>
                  </a:moveTo>
                  <a:lnTo>
                    <a:pt x="419992" y="0"/>
                  </a:lnTo>
                  <a:cubicBezTo>
                    <a:pt x="466359" y="0"/>
                    <a:pt x="510827" y="18419"/>
                    <a:pt x="543613" y="51206"/>
                  </a:cubicBezTo>
                  <a:cubicBezTo>
                    <a:pt x="576399" y="83992"/>
                    <a:pt x="594819" y="128460"/>
                    <a:pt x="594819" y="174827"/>
                  </a:cubicBezTo>
                  <a:lnTo>
                    <a:pt x="594819" y="680055"/>
                  </a:lnTo>
                  <a:cubicBezTo>
                    <a:pt x="594819" y="776609"/>
                    <a:pt x="516546" y="854882"/>
                    <a:pt x="419992" y="854882"/>
                  </a:cubicBezTo>
                  <a:lnTo>
                    <a:pt x="174827" y="854882"/>
                  </a:lnTo>
                  <a:cubicBezTo>
                    <a:pt x="78273" y="854882"/>
                    <a:pt x="0" y="776609"/>
                    <a:pt x="0" y="680055"/>
                  </a:cubicBezTo>
                  <a:lnTo>
                    <a:pt x="0" y="174827"/>
                  </a:lnTo>
                  <a:cubicBezTo>
                    <a:pt x="0" y="78273"/>
                    <a:pt x="78273" y="0"/>
                    <a:pt x="1748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56464"/>
              <a:ext cx="594819" cy="564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3700"/>
                </a:lnSpc>
              </a:pPr>
              <a:r>
                <a:rPr lang="ar-EG" b="true" sz="2700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الذكاء الاصطناعي و التقييم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23400" y="6692900"/>
            <a:ext cx="2258452" cy="3172649"/>
            <a:chOff x="0" y="0"/>
            <a:chExt cx="594819" cy="8355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819" cy="835595"/>
            </a:xfrm>
            <a:custGeom>
              <a:avLst/>
              <a:gdLst/>
              <a:ahLst/>
              <a:cxnLst/>
              <a:rect r="r" b="b" t="t" l="l"/>
              <a:pathLst>
                <a:path h="835595" w="594819">
                  <a:moveTo>
                    <a:pt x="174827" y="0"/>
                  </a:moveTo>
                  <a:lnTo>
                    <a:pt x="419992" y="0"/>
                  </a:lnTo>
                  <a:cubicBezTo>
                    <a:pt x="466359" y="0"/>
                    <a:pt x="510827" y="18419"/>
                    <a:pt x="543613" y="51206"/>
                  </a:cubicBezTo>
                  <a:cubicBezTo>
                    <a:pt x="576399" y="83992"/>
                    <a:pt x="594819" y="128460"/>
                    <a:pt x="594819" y="174827"/>
                  </a:cubicBezTo>
                  <a:lnTo>
                    <a:pt x="594819" y="660768"/>
                  </a:lnTo>
                  <a:cubicBezTo>
                    <a:pt x="594819" y="757322"/>
                    <a:pt x="516546" y="835595"/>
                    <a:pt x="419992" y="835595"/>
                  </a:cubicBezTo>
                  <a:lnTo>
                    <a:pt x="174827" y="835595"/>
                  </a:lnTo>
                  <a:cubicBezTo>
                    <a:pt x="78273" y="835595"/>
                    <a:pt x="0" y="757322"/>
                    <a:pt x="0" y="660768"/>
                  </a:cubicBezTo>
                  <a:lnTo>
                    <a:pt x="0" y="174827"/>
                  </a:lnTo>
                  <a:cubicBezTo>
                    <a:pt x="0" y="78273"/>
                    <a:pt x="78273" y="0"/>
                    <a:pt x="1748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50678"/>
              <a:ext cx="594819" cy="551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3700"/>
                </a:lnSpc>
              </a:pPr>
              <a:r>
                <a:rPr lang="ar-EG" b="true" sz="2700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تصميم العرض و الهوية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14200" y="6692900"/>
            <a:ext cx="2258452" cy="3218982"/>
            <a:chOff x="0" y="0"/>
            <a:chExt cx="594819" cy="8477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4819" cy="847798"/>
            </a:xfrm>
            <a:custGeom>
              <a:avLst/>
              <a:gdLst/>
              <a:ahLst/>
              <a:cxnLst/>
              <a:rect r="r" b="b" t="t" l="l"/>
              <a:pathLst>
                <a:path h="847798" w="594819">
                  <a:moveTo>
                    <a:pt x="174827" y="0"/>
                  </a:moveTo>
                  <a:lnTo>
                    <a:pt x="419992" y="0"/>
                  </a:lnTo>
                  <a:cubicBezTo>
                    <a:pt x="466359" y="0"/>
                    <a:pt x="510827" y="18419"/>
                    <a:pt x="543613" y="51206"/>
                  </a:cubicBezTo>
                  <a:cubicBezTo>
                    <a:pt x="576399" y="83992"/>
                    <a:pt x="594819" y="128460"/>
                    <a:pt x="594819" y="174827"/>
                  </a:cubicBezTo>
                  <a:lnTo>
                    <a:pt x="594819" y="672971"/>
                  </a:lnTo>
                  <a:cubicBezTo>
                    <a:pt x="594819" y="769525"/>
                    <a:pt x="516546" y="847798"/>
                    <a:pt x="419992" y="847798"/>
                  </a:cubicBezTo>
                  <a:lnTo>
                    <a:pt x="174827" y="847798"/>
                  </a:lnTo>
                  <a:cubicBezTo>
                    <a:pt x="78273" y="847798"/>
                    <a:pt x="0" y="769525"/>
                    <a:pt x="0" y="672971"/>
                  </a:cubicBezTo>
                  <a:lnTo>
                    <a:pt x="0" y="174827"/>
                  </a:lnTo>
                  <a:cubicBezTo>
                    <a:pt x="0" y="78273"/>
                    <a:pt x="78273" y="0"/>
                    <a:pt x="1748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254339"/>
              <a:ext cx="594819" cy="559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00"/>
                </a:lnSpc>
              </a:pPr>
              <a:r>
                <a:rPr lang="en-US" b="true" sz="2700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Firebase </a:t>
              </a:r>
              <a:r>
                <a:rPr lang="ar-EG" b="true" sz="2700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و النشر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605000" y="6692900"/>
            <a:ext cx="2258452" cy="3199545"/>
            <a:chOff x="0" y="0"/>
            <a:chExt cx="594819" cy="8426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4819" cy="842679"/>
            </a:xfrm>
            <a:custGeom>
              <a:avLst/>
              <a:gdLst/>
              <a:ahLst/>
              <a:cxnLst/>
              <a:rect r="r" b="b" t="t" l="l"/>
              <a:pathLst>
                <a:path h="842679" w="594819">
                  <a:moveTo>
                    <a:pt x="174827" y="0"/>
                  </a:moveTo>
                  <a:lnTo>
                    <a:pt x="419992" y="0"/>
                  </a:lnTo>
                  <a:cubicBezTo>
                    <a:pt x="466359" y="0"/>
                    <a:pt x="510827" y="18419"/>
                    <a:pt x="543613" y="51206"/>
                  </a:cubicBezTo>
                  <a:cubicBezTo>
                    <a:pt x="576399" y="83992"/>
                    <a:pt x="594819" y="128460"/>
                    <a:pt x="594819" y="174827"/>
                  </a:cubicBezTo>
                  <a:lnTo>
                    <a:pt x="594819" y="667852"/>
                  </a:lnTo>
                  <a:cubicBezTo>
                    <a:pt x="594819" y="764406"/>
                    <a:pt x="516546" y="842679"/>
                    <a:pt x="419992" y="842679"/>
                  </a:cubicBezTo>
                  <a:lnTo>
                    <a:pt x="174827" y="842679"/>
                  </a:lnTo>
                  <a:cubicBezTo>
                    <a:pt x="78273" y="842679"/>
                    <a:pt x="0" y="764406"/>
                    <a:pt x="0" y="667852"/>
                  </a:cubicBezTo>
                  <a:lnTo>
                    <a:pt x="0" y="174827"/>
                  </a:lnTo>
                  <a:cubicBezTo>
                    <a:pt x="0" y="78273"/>
                    <a:pt x="78273" y="0"/>
                    <a:pt x="1748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252803"/>
              <a:ext cx="594819" cy="55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3700"/>
                </a:lnSpc>
              </a:pPr>
              <a:r>
                <a:rPr lang="ar-EG" b="true" sz="2700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قائد الفريق و بناء التطبيق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4655800" y="6870700"/>
            <a:ext cx="2159000" cy="71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500"/>
              </a:lnSpc>
              <a:spcBef>
                <a:spcPct val="0"/>
              </a:spcBef>
            </a:pPr>
            <a:r>
              <a:rPr lang="ar-EG" b="true" sz="3200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قيس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65000" y="6870700"/>
            <a:ext cx="2159000" cy="71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500"/>
              </a:lnSpc>
              <a:spcBef>
                <a:spcPct val="0"/>
              </a:spcBef>
            </a:pPr>
            <a:r>
              <a:rPr lang="ar-EG" b="true" sz="3200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الاء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74200" y="6870700"/>
            <a:ext cx="2159000" cy="65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500"/>
              </a:lnSpc>
              <a:spcBef>
                <a:spcPct val="0"/>
              </a:spcBef>
            </a:pPr>
            <a:r>
              <a:rPr lang="ar-EG" b="true" sz="3200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شورى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83400" y="6870700"/>
            <a:ext cx="2159000" cy="64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500"/>
              </a:lnSpc>
              <a:spcBef>
                <a:spcPct val="0"/>
              </a:spcBef>
            </a:pPr>
            <a:r>
              <a:rPr lang="ar-EG" b="true" sz="3200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رضوان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292600" y="6870700"/>
            <a:ext cx="2159000" cy="71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500"/>
              </a:lnSpc>
              <a:spcBef>
                <a:spcPct val="0"/>
              </a:spcBef>
            </a:pPr>
            <a:r>
              <a:rPr lang="ar-EG" b="true" sz="3200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طه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01800" y="6870700"/>
            <a:ext cx="2159000" cy="71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500"/>
              </a:lnSpc>
              <a:spcBef>
                <a:spcPct val="0"/>
              </a:spcBef>
            </a:pPr>
            <a:r>
              <a:rPr lang="ar-EG" b="true" sz="3200">
                <a:gradFill>
                  <a:gsLst>
                    <a:gs pos="0">
                      <a:srgbClr val="4562CB">
                        <a:alpha val="100000"/>
                      </a:srgbClr>
                    </a:gs>
                    <a:gs pos="100000">
                      <a:srgbClr val="2A9F80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هناء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562CB">
                <a:alpha val="100000"/>
              </a:srgbClr>
            </a:gs>
            <a:gs pos="100000">
              <a:srgbClr val="2A9F8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66207" y="6687783"/>
            <a:ext cx="12570451" cy="9175588"/>
            <a:chOff x="0" y="0"/>
            <a:chExt cx="111352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3527" cy="812800"/>
            </a:xfrm>
            <a:custGeom>
              <a:avLst/>
              <a:gdLst/>
              <a:ahLst/>
              <a:cxnLst/>
              <a:rect r="r" b="b" t="t" l="l"/>
              <a:pathLst>
                <a:path h="812800" w="1113527">
                  <a:moveTo>
                    <a:pt x="371376" y="19070"/>
                  </a:moveTo>
                  <a:cubicBezTo>
                    <a:pt x="428280" y="7556"/>
                    <a:pt x="493365" y="0"/>
                    <a:pt x="557063" y="0"/>
                  </a:cubicBezTo>
                  <a:cubicBezTo>
                    <a:pt x="620763" y="0"/>
                    <a:pt x="682059" y="6476"/>
                    <a:pt x="738545" y="17990"/>
                  </a:cubicBezTo>
                  <a:cubicBezTo>
                    <a:pt x="739748" y="18350"/>
                    <a:pt x="740949" y="18350"/>
                    <a:pt x="742151" y="18710"/>
                  </a:cubicBezTo>
                  <a:cubicBezTo>
                    <a:pt x="954280" y="64765"/>
                    <a:pt x="1110522" y="186379"/>
                    <a:pt x="1113527" y="328502"/>
                  </a:cubicBezTo>
                  <a:lnTo>
                    <a:pt x="1113527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3005" y="185660"/>
                    <a:pt x="156843" y="64045"/>
                    <a:pt x="371376" y="190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2700"/>
              <a:ext cx="1113527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390880">
            <a:off x="6663259" y="9228854"/>
            <a:ext cx="9200229" cy="3086100"/>
            <a:chOff x="0" y="0"/>
            <a:chExt cx="24231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3106" cy="812800"/>
            </a:xfrm>
            <a:custGeom>
              <a:avLst/>
              <a:gdLst/>
              <a:ahLst/>
              <a:cxnLst/>
              <a:rect r="r" b="b" t="t" l="l"/>
              <a:pathLst>
                <a:path h="812800" w="2423106">
                  <a:moveTo>
                    <a:pt x="0" y="0"/>
                  </a:moveTo>
                  <a:lnTo>
                    <a:pt x="2423106" y="0"/>
                  </a:lnTo>
                  <a:lnTo>
                    <a:pt x="24231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423106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808032">
            <a:off x="6131053" y="7212992"/>
            <a:ext cx="13151453" cy="4808321"/>
            <a:chOff x="0" y="0"/>
            <a:chExt cx="3463757" cy="1266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3757" cy="1266389"/>
            </a:xfrm>
            <a:custGeom>
              <a:avLst/>
              <a:gdLst/>
              <a:ahLst/>
              <a:cxnLst/>
              <a:rect r="r" b="b" t="t" l="l"/>
              <a:pathLst>
                <a:path h="1266389" w="3463757">
                  <a:moveTo>
                    <a:pt x="1155210" y="19070"/>
                  </a:moveTo>
                  <a:cubicBezTo>
                    <a:pt x="1332214" y="7556"/>
                    <a:pt x="1534671" y="0"/>
                    <a:pt x="1732811" y="0"/>
                  </a:cubicBezTo>
                  <a:cubicBezTo>
                    <a:pt x="1930958" y="0"/>
                    <a:pt x="2121625" y="6476"/>
                    <a:pt x="2297330" y="17990"/>
                  </a:cubicBezTo>
                  <a:cubicBezTo>
                    <a:pt x="2301074" y="18350"/>
                    <a:pt x="2304811" y="18350"/>
                    <a:pt x="2308547" y="18710"/>
                  </a:cubicBezTo>
                  <a:cubicBezTo>
                    <a:pt x="2968400" y="64765"/>
                    <a:pt x="3454412" y="186379"/>
                    <a:pt x="3463757" y="338578"/>
                  </a:cubicBezTo>
                  <a:lnTo>
                    <a:pt x="3463757" y="1266389"/>
                  </a:lnTo>
                  <a:lnTo>
                    <a:pt x="0" y="1266389"/>
                  </a:lnTo>
                  <a:lnTo>
                    <a:pt x="0" y="339266"/>
                  </a:lnTo>
                  <a:cubicBezTo>
                    <a:pt x="9346" y="185660"/>
                    <a:pt x="487880" y="64045"/>
                    <a:pt x="1155210" y="190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2700"/>
              <a:ext cx="3463757" cy="1253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7470" y="3279899"/>
            <a:ext cx="17526000" cy="1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2809"/>
              </a:lnSpc>
              <a:spcBef>
                <a:spcPct val="0"/>
              </a:spcBef>
            </a:pPr>
            <a:r>
              <a:rPr lang="ar-EG" b="true" sz="9149">
                <a:solidFill>
                  <a:srgbClr val="FFFFFF"/>
                </a:solidFill>
                <a:latin typeface="29LT Bukra Wide Bold"/>
                <a:ea typeface="29LT Bukra Wide Bold"/>
                <a:cs typeface="29LT Bukra Wide Bold"/>
                <a:sym typeface="29LT Bukra Wide Bold"/>
                <a:rtl val="true"/>
              </a:rPr>
              <a:t>شكرا لحسن استماعكم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DAHXVsf-Mi0</dc:identifier>
  <dcterms:modified xsi:type="dcterms:W3CDTF">2011-08-01T06:04:30Z</dcterms:modified>
  <cp:revision>1</cp:revision>
  <dc:title>Sanad Application</dc:title>
</cp:coreProperties>
</file>